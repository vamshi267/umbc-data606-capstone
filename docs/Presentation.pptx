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embeddedFontLst>
    <p:embeddedFont>
      <p:font typeface="Roboto" panose="02000000000000000000" pitchFamily="2" charset="0"/>
      <p:regular r:id="rId19"/>
      <p:bold r:id="rId20"/>
      <p:italic r:id="rId21"/>
      <p:boldItalic r:id="rId2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19" d="100"/>
          <a:sy n="119" d="100"/>
        </p:scale>
        <p:origin x="418" y="9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390d85ed143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g390d85ed143_0_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3d47708cf84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3d47708cf84_0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g3d47708cf84_0_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" name="Google Shape;78;g3d47708cf84_0_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3d47708cf84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3d47708cf84_0_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d47708cf84_0_1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3d47708cf84_0_10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3d47708cf84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" name="Google Shape;105;g3d47708cf84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3d47708cf84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3" name="Google Shape;113;g3d47708cf84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d47708cf84_0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d47708cf84_0_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g390d85ed143_0_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1" name="Google Shape;131;g390d85ed143_0_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d47708cf84_0_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3d47708cf84_0_6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3d47708cf84_0_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" name="Google Shape;149;g3d47708cf84_0_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d47708cf84_0_1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" name="Google Shape;158;g3d47708cf84_0_1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g3d47708cf84_0_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7" name="Google Shape;167;g3d47708cf84_0_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3d47708cf84_0_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5" name="Google Shape;175;g3d47708cf84_0_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3">
          <a:extLst>
            <a:ext uri="{FF2B5EF4-FFF2-40B4-BE49-F238E27FC236}">
              <a16:creationId xmlns:a16="http://schemas.microsoft.com/office/drawing/2014/main" id="{126E0EFD-DB5B-45DF-4A74-AD83E20E72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3d47708cf84_0_86:notes">
            <a:extLst>
              <a:ext uri="{FF2B5EF4-FFF2-40B4-BE49-F238E27FC236}">
                <a16:creationId xmlns:a16="http://schemas.microsoft.com/office/drawing/2014/main" id="{AF86AB72-6D1D-A721-0785-528B0BF5E07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5" name="Google Shape;175;g3d47708cf84_0_86:notes">
            <a:extLst>
              <a:ext uri="{FF2B5EF4-FFF2-40B4-BE49-F238E27FC236}">
                <a16:creationId xmlns:a16="http://schemas.microsoft.com/office/drawing/2014/main" id="{9D2F0844-34E1-6111-E9D8-72D78EEE280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947997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.png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png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hyperlink" Target="https://arxiv.org/abs/2506.15879" TargetMode="External"/><Relationship Id="rId3" Type="http://schemas.openxmlformats.org/officeDocument/2006/relationships/image" Target="../media/image3.png"/><Relationship Id="rId7" Type="http://schemas.openxmlformats.org/officeDocument/2006/relationships/hyperlink" Target="https://doi.org/10.47852/bonviewAIA795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doi.org/10.2991/978-94-6463-XXX-X" TargetMode="External"/><Relationship Id="rId5" Type="http://schemas.openxmlformats.org/officeDocument/2006/relationships/hyperlink" Target="https://doi.org/10.65418/ajapas.vi.766" TargetMode="External"/><Relationship Id="rId4" Type="http://schemas.openxmlformats.org/officeDocument/2006/relationships/hyperlink" Target="https://doi.org/10.3390/info13100495" TargetMode="External"/><Relationship Id="rId9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3"/>
          <p:cNvPicPr preferRelativeResize="0"/>
          <p:nvPr/>
        </p:nvPicPr>
        <p:blipFill rotWithShape="1">
          <a:blip r:embed="rId4">
            <a:alphaModFix/>
          </a:blip>
          <a:srcRect t="30619" b="30977"/>
          <a:stretch/>
        </p:blipFill>
        <p:spPr>
          <a:xfrm>
            <a:off x="29900" y="1971804"/>
            <a:ext cx="3406871" cy="10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/>
        </p:nvSpPr>
        <p:spPr>
          <a:xfrm>
            <a:off x="4175050" y="1499950"/>
            <a:ext cx="4574400" cy="159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400" b="1" dirty="0">
                <a:latin typeface="Roboto"/>
                <a:ea typeface="Roboto"/>
                <a:cs typeface="Roboto"/>
                <a:sym typeface="Roboto"/>
              </a:rPr>
              <a:t>Global AI &amp; Data Science Salary Prediction Using Machine Learning</a:t>
            </a:r>
            <a:endParaRPr sz="2400" b="1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sz="2400"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7" name="Google Shape;57;p13"/>
          <p:cNvSpPr txBox="1"/>
          <p:nvPr/>
        </p:nvSpPr>
        <p:spPr>
          <a:xfrm>
            <a:off x="5880250" y="3762575"/>
            <a:ext cx="2869200" cy="770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latin typeface="Roboto"/>
                <a:ea typeface="Roboto"/>
                <a:cs typeface="Roboto"/>
                <a:sym typeface="Roboto"/>
              </a:rPr>
              <a:t>Author : Raja Vamshi Goud Amaragoni</a:t>
            </a:r>
            <a:endParaRPr sz="12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latin typeface="Roboto"/>
                <a:ea typeface="Roboto"/>
                <a:cs typeface="Roboto"/>
                <a:sym typeface="Roboto"/>
              </a:rPr>
              <a:t>Professor : Dr. Chaoji Wang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latin typeface="Roboto"/>
                <a:ea typeface="Roboto"/>
                <a:cs typeface="Roboto"/>
                <a:sym typeface="Roboto"/>
              </a:rPr>
              <a:t>Semester : Spring-2026</a:t>
            </a:r>
            <a:endParaRPr sz="12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100" dirty="0"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2" name="Google Shape;62;p14" title="slide-background-v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Google Shape;63;p14"/>
          <p:cNvSpPr txBox="1"/>
          <p:nvPr/>
        </p:nvSpPr>
        <p:spPr>
          <a:xfrm>
            <a:off x="4855610" y="227263"/>
            <a:ext cx="309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dirty="0">
                <a:latin typeface="+mj-lt"/>
                <a:ea typeface="Roboto Black"/>
                <a:cs typeface="Roboto Black"/>
                <a:sym typeface="Roboto Black"/>
              </a:rPr>
              <a:t>Problem Statement :</a:t>
            </a:r>
            <a:endParaRPr sz="1800" b="1" dirty="0">
              <a:solidFill>
                <a:srgbClr val="000000"/>
              </a:solidFill>
              <a:latin typeface="+mj-lt"/>
              <a:ea typeface="Roboto"/>
              <a:cs typeface="Roboto"/>
              <a:sym typeface="Roboto"/>
            </a:endParaRPr>
          </a:p>
        </p:txBody>
      </p:sp>
      <p:sp>
        <p:nvSpPr>
          <p:cNvPr id="64" name="Google Shape;64;p14"/>
          <p:cNvSpPr txBox="1"/>
          <p:nvPr/>
        </p:nvSpPr>
        <p:spPr>
          <a:xfrm>
            <a:off x="274975" y="1088400"/>
            <a:ext cx="4732500" cy="356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23850" algn="l" rtl="0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lang="en" sz="1600">
                <a:latin typeface="Roboto"/>
                <a:ea typeface="Roboto"/>
                <a:cs typeface="Roboto"/>
                <a:sym typeface="Roboto"/>
              </a:rPr>
              <a:t>Salary estimation in AI and Data Science roles depends on multiple factors such as experience, job role, location, and company type</a:t>
            </a:r>
            <a:endParaRPr sz="1600">
              <a:latin typeface="Roboto"/>
              <a:ea typeface="Roboto"/>
              <a:cs typeface="Roboto"/>
              <a:sym typeface="Roboto"/>
            </a:endParaRPr>
          </a:p>
          <a:p>
            <a:pPr marL="457200" lvl="0" indent="-3238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lang="en" sz="1600">
                <a:latin typeface="Roboto"/>
                <a:ea typeface="Roboto"/>
                <a:cs typeface="Roboto"/>
                <a:sym typeface="Roboto"/>
              </a:rPr>
              <a:t>Traditional estimation methods are inconsistent and subjective</a:t>
            </a:r>
            <a:endParaRPr sz="1600">
              <a:latin typeface="Roboto"/>
              <a:ea typeface="Roboto"/>
              <a:cs typeface="Roboto"/>
              <a:sym typeface="Roboto"/>
            </a:endParaRPr>
          </a:p>
          <a:p>
            <a:pPr marL="457200" lvl="0" indent="-3238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lang="en" sz="1600">
                <a:latin typeface="Roboto"/>
                <a:ea typeface="Roboto"/>
                <a:cs typeface="Roboto"/>
                <a:sym typeface="Roboto"/>
              </a:rPr>
              <a:t>Lack of standardized and data-driven salary benchmarking</a:t>
            </a:r>
            <a:endParaRPr sz="1600">
              <a:latin typeface="Roboto"/>
              <a:ea typeface="Roboto"/>
              <a:cs typeface="Roboto"/>
              <a:sym typeface="Roboto"/>
            </a:endParaRPr>
          </a:p>
          <a:p>
            <a:pPr marL="457200" lvl="0" indent="-3238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lang="en" sz="1600">
                <a:latin typeface="Roboto"/>
                <a:ea typeface="Roboto"/>
                <a:cs typeface="Roboto"/>
                <a:sym typeface="Roboto"/>
              </a:rPr>
              <a:t>Need for a predictive model that provides accurate and scalable salary estimation </a:t>
            </a:r>
            <a:endParaRPr sz="16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5" name="Google Shape;65;p14"/>
          <p:cNvPicPr preferRelativeResize="0"/>
          <p:nvPr/>
        </p:nvPicPr>
        <p:blipFill rotWithShape="1">
          <a:blip r:embed="rId4">
            <a:alphaModFix/>
          </a:blip>
          <a:srcRect t="30619" b="30977"/>
          <a:stretch/>
        </p:blipFill>
        <p:spPr>
          <a:xfrm>
            <a:off x="76150" y="9211"/>
            <a:ext cx="2882025" cy="855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6" name="Google Shape;66;p14"/>
          <p:cNvPicPr preferRelativeResize="0"/>
          <p:nvPr/>
        </p:nvPicPr>
        <p:blipFill rotWithShape="1">
          <a:blip r:embed="rId5">
            <a:alphaModFix/>
          </a:blip>
          <a:srcRect l="7191" t="14897" r="9001" b="10281"/>
          <a:stretch/>
        </p:blipFill>
        <p:spPr>
          <a:xfrm>
            <a:off x="5007475" y="1529250"/>
            <a:ext cx="3936276" cy="30392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" name="Google Shape;71;p15" title="slide-background-v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p15"/>
          <p:cNvSpPr txBox="1"/>
          <p:nvPr/>
        </p:nvSpPr>
        <p:spPr>
          <a:xfrm>
            <a:off x="4864085" y="227263"/>
            <a:ext cx="309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dirty="0">
                <a:latin typeface="+mj-lt"/>
                <a:ea typeface="Roboto Black"/>
                <a:cs typeface="Roboto Black"/>
                <a:sym typeface="Roboto Black"/>
              </a:rPr>
              <a:t>Project Objectives:</a:t>
            </a:r>
            <a:endParaRPr sz="1800" b="1" dirty="0">
              <a:solidFill>
                <a:srgbClr val="000000"/>
              </a:solidFill>
              <a:latin typeface="+mj-lt"/>
              <a:ea typeface="Roboto"/>
              <a:cs typeface="Roboto"/>
              <a:sym typeface="Roboto"/>
            </a:endParaRPr>
          </a:p>
        </p:txBody>
      </p:sp>
      <p:sp>
        <p:nvSpPr>
          <p:cNvPr id="73" name="Google Shape;73;p15"/>
          <p:cNvSpPr txBox="1"/>
          <p:nvPr/>
        </p:nvSpPr>
        <p:spPr>
          <a:xfrm>
            <a:off x="532150" y="1273975"/>
            <a:ext cx="3492600" cy="266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Roboto"/>
              <a:buChar char="●"/>
            </a:pPr>
            <a:r>
              <a:rPr lang="en" sz="1600">
                <a:latin typeface="Roboto"/>
                <a:ea typeface="Roboto"/>
                <a:cs typeface="Roboto"/>
                <a:sym typeface="Roboto"/>
              </a:rPr>
              <a:t>Analyze global salary data for AI and Data Science roles</a:t>
            </a:r>
            <a:endParaRPr sz="1600">
              <a:latin typeface="Roboto"/>
              <a:ea typeface="Roboto"/>
              <a:cs typeface="Roboto"/>
              <a:sym typeface="Roboto"/>
            </a:endParaRPr>
          </a:p>
          <a:p>
            <a:pPr marL="45720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Roboto"/>
              <a:buChar char="●"/>
            </a:pPr>
            <a:r>
              <a:rPr lang="en" sz="1600">
                <a:latin typeface="Roboto"/>
                <a:ea typeface="Roboto"/>
                <a:cs typeface="Roboto"/>
                <a:sym typeface="Roboto"/>
              </a:rPr>
              <a:t>Build machine learning models to predict salary</a:t>
            </a:r>
            <a:endParaRPr sz="1600">
              <a:latin typeface="Roboto"/>
              <a:ea typeface="Roboto"/>
              <a:cs typeface="Roboto"/>
              <a:sym typeface="Roboto"/>
            </a:endParaRPr>
          </a:p>
          <a:p>
            <a:pPr marL="45720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Roboto"/>
              <a:buChar char="●"/>
            </a:pPr>
            <a:r>
              <a:rPr lang="en" sz="1600">
                <a:latin typeface="Roboto"/>
                <a:ea typeface="Roboto"/>
                <a:cs typeface="Roboto"/>
                <a:sym typeface="Roboto"/>
              </a:rPr>
              <a:t>Compare different regression models</a:t>
            </a:r>
            <a:endParaRPr sz="1600">
              <a:latin typeface="Roboto"/>
              <a:ea typeface="Roboto"/>
              <a:cs typeface="Roboto"/>
              <a:sym typeface="Roboto"/>
            </a:endParaRPr>
          </a:p>
          <a:p>
            <a:pPr marL="45720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Roboto"/>
              <a:buChar char="●"/>
            </a:pPr>
            <a:r>
              <a:rPr lang="en" sz="1600">
                <a:latin typeface="Roboto"/>
                <a:ea typeface="Roboto"/>
                <a:cs typeface="Roboto"/>
                <a:sym typeface="Roboto"/>
              </a:rPr>
              <a:t>Identify the most accurate and reliable model</a:t>
            </a:r>
            <a:endParaRPr sz="16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4" name="Google Shape;74;p15"/>
          <p:cNvPicPr preferRelativeResize="0"/>
          <p:nvPr/>
        </p:nvPicPr>
        <p:blipFill rotWithShape="1">
          <a:blip r:embed="rId4">
            <a:alphaModFix/>
          </a:blip>
          <a:srcRect t="30619" b="30977"/>
          <a:stretch/>
        </p:blipFill>
        <p:spPr>
          <a:xfrm>
            <a:off x="76150" y="9211"/>
            <a:ext cx="2882025" cy="855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75" name="Google Shape;75;p15"/>
          <p:cNvPicPr preferRelativeResize="0"/>
          <p:nvPr/>
        </p:nvPicPr>
        <p:blipFill rotWithShape="1">
          <a:blip r:embed="rId5">
            <a:alphaModFix/>
          </a:blip>
          <a:srcRect l="10763" t="14590" r="7331" b="13679"/>
          <a:stretch/>
        </p:blipFill>
        <p:spPr>
          <a:xfrm>
            <a:off x="4236025" y="1317125"/>
            <a:ext cx="4684274" cy="31136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0" name="Google Shape;80;p16" title="slide-background-v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1" name="Google Shape;81;p16"/>
          <p:cNvSpPr txBox="1"/>
          <p:nvPr/>
        </p:nvSpPr>
        <p:spPr>
          <a:xfrm>
            <a:off x="4873260" y="227263"/>
            <a:ext cx="309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dirty="0">
                <a:latin typeface="+mj-lt"/>
                <a:ea typeface="Roboto Black"/>
                <a:cs typeface="Roboto Black"/>
                <a:sym typeface="Roboto Black"/>
              </a:rPr>
              <a:t>Dataset Overview :</a:t>
            </a:r>
            <a:endParaRPr sz="1800" b="1" dirty="0">
              <a:solidFill>
                <a:srgbClr val="000000"/>
              </a:solidFill>
              <a:latin typeface="+mj-lt"/>
              <a:ea typeface="Roboto"/>
              <a:cs typeface="Roboto"/>
              <a:sym typeface="Roboto"/>
            </a:endParaRPr>
          </a:p>
        </p:txBody>
      </p:sp>
      <p:sp>
        <p:nvSpPr>
          <p:cNvPr id="82" name="Google Shape;82;p16"/>
          <p:cNvSpPr txBox="1"/>
          <p:nvPr/>
        </p:nvSpPr>
        <p:spPr>
          <a:xfrm>
            <a:off x="550500" y="1182100"/>
            <a:ext cx="3878400" cy="365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365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700"/>
              <a:buChar char="●"/>
            </a:pPr>
            <a:r>
              <a:rPr lang="en" sz="1700">
                <a:solidFill>
                  <a:schemeClr val="dk1"/>
                </a:solidFill>
              </a:rPr>
              <a:t>Dataset contains 50,000 job records</a:t>
            </a:r>
            <a:endParaRPr sz="1700">
              <a:solidFill>
                <a:schemeClr val="dk1"/>
              </a:solidFill>
            </a:endParaRPr>
          </a:p>
          <a:p>
            <a:pPr marL="457200" lvl="0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Char char="●"/>
            </a:pPr>
            <a:r>
              <a:rPr lang="en" sz="1700">
                <a:solidFill>
                  <a:schemeClr val="dk1"/>
                </a:solidFill>
              </a:rPr>
              <a:t>Includes 14 features</a:t>
            </a:r>
            <a:endParaRPr sz="1700">
              <a:solidFill>
                <a:schemeClr val="dk1"/>
              </a:solidFill>
            </a:endParaRPr>
          </a:p>
          <a:p>
            <a:pPr marL="457200" lvl="0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Char char="●"/>
            </a:pPr>
            <a:r>
              <a:rPr lang="en" sz="1700">
                <a:solidFill>
                  <a:schemeClr val="dk1"/>
                </a:solidFill>
              </a:rPr>
              <a:t>Covers global AI and Data Science job roles</a:t>
            </a:r>
            <a:endParaRPr sz="170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 b="1">
                <a:solidFill>
                  <a:schemeClr val="dk1"/>
                </a:solidFill>
              </a:rPr>
              <a:t>Key attributes:</a:t>
            </a:r>
            <a:endParaRPr sz="1700" b="1">
              <a:solidFill>
                <a:schemeClr val="dk1"/>
              </a:solidFill>
            </a:endParaRPr>
          </a:p>
          <a:p>
            <a:pPr marL="457200" lvl="0" indent="-3365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700"/>
              <a:buChar char="●"/>
            </a:pPr>
            <a:r>
              <a:rPr lang="en" sz="1700">
                <a:solidFill>
                  <a:schemeClr val="dk1"/>
                </a:solidFill>
              </a:rPr>
              <a:t>Job title, experience level, location</a:t>
            </a:r>
            <a:endParaRPr sz="1700">
              <a:solidFill>
                <a:schemeClr val="dk1"/>
              </a:solidFill>
            </a:endParaRPr>
          </a:p>
          <a:p>
            <a:pPr marL="457200" lvl="0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Char char="●"/>
            </a:pPr>
            <a:r>
              <a:rPr lang="en" sz="1700">
                <a:solidFill>
                  <a:schemeClr val="dk1"/>
                </a:solidFill>
              </a:rPr>
              <a:t>Company type and work type</a:t>
            </a:r>
            <a:endParaRPr sz="1700">
              <a:solidFill>
                <a:schemeClr val="dk1"/>
              </a:solidFill>
            </a:endParaRPr>
          </a:p>
          <a:p>
            <a:pPr marL="457200" lvl="0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Char char="●"/>
            </a:pPr>
            <a:r>
              <a:rPr lang="en" sz="1700">
                <a:solidFill>
                  <a:schemeClr val="dk1"/>
                </a:solidFill>
              </a:rPr>
              <a:t>Salary range (min and max)</a:t>
            </a:r>
            <a:endParaRPr sz="17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83" name="Google Shape;83;p16"/>
          <p:cNvPicPr preferRelativeResize="0"/>
          <p:nvPr/>
        </p:nvPicPr>
        <p:blipFill rotWithShape="1">
          <a:blip r:embed="rId4">
            <a:alphaModFix/>
          </a:blip>
          <a:srcRect t="30619" b="30977"/>
          <a:stretch/>
        </p:blipFill>
        <p:spPr>
          <a:xfrm>
            <a:off x="76150" y="9211"/>
            <a:ext cx="2882025" cy="855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84" name="Google Shape;84;p1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428900" y="1088578"/>
            <a:ext cx="4392900" cy="379837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9" name="Google Shape;89;p17" title="slide-background-v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Google Shape;90;p17"/>
          <p:cNvSpPr txBox="1"/>
          <p:nvPr/>
        </p:nvSpPr>
        <p:spPr>
          <a:xfrm>
            <a:off x="4864800" y="98583"/>
            <a:ext cx="3091800" cy="67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dirty="0">
                <a:latin typeface="+mj-lt"/>
                <a:ea typeface="Roboto Black"/>
                <a:cs typeface="Roboto Black"/>
                <a:sym typeface="Roboto Black"/>
              </a:rPr>
              <a:t>Data Quality &amp; Target Variable :</a:t>
            </a:r>
            <a:endParaRPr sz="1800" b="1" dirty="0">
              <a:solidFill>
                <a:srgbClr val="000000"/>
              </a:solidFill>
              <a:latin typeface="+mj-lt"/>
              <a:ea typeface="Roboto"/>
              <a:cs typeface="Roboto"/>
              <a:sym typeface="Roboto"/>
            </a:endParaRPr>
          </a:p>
        </p:txBody>
      </p:sp>
      <p:sp>
        <p:nvSpPr>
          <p:cNvPr id="91" name="Google Shape;91;p17"/>
          <p:cNvSpPr txBox="1"/>
          <p:nvPr/>
        </p:nvSpPr>
        <p:spPr>
          <a:xfrm>
            <a:off x="626400" y="1153100"/>
            <a:ext cx="7035600" cy="260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365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700"/>
              <a:buChar char="●"/>
            </a:pPr>
            <a:r>
              <a:rPr lang="en" sz="1700">
                <a:solidFill>
                  <a:schemeClr val="dk1"/>
                </a:solidFill>
              </a:rPr>
              <a:t>No missing values found</a:t>
            </a:r>
            <a:endParaRPr sz="1700">
              <a:solidFill>
                <a:schemeClr val="dk1"/>
              </a:solidFill>
            </a:endParaRPr>
          </a:p>
          <a:p>
            <a:pPr marL="457200" lvl="0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Char char="●"/>
            </a:pPr>
            <a:r>
              <a:rPr lang="en" sz="1700">
                <a:solidFill>
                  <a:schemeClr val="dk1"/>
                </a:solidFill>
              </a:rPr>
              <a:t>No duplicate records detected</a:t>
            </a:r>
            <a:endParaRPr sz="1700">
              <a:solidFill>
                <a:schemeClr val="dk1"/>
              </a:solidFill>
            </a:endParaRPr>
          </a:p>
          <a:p>
            <a:pPr marL="457200" lvl="0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Char char="●"/>
            </a:pPr>
            <a:r>
              <a:rPr lang="en" sz="1700">
                <a:solidFill>
                  <a:schemeClr val="dk1"/>
                </a:solidFill>
              </a:rPr>
              <a:t>Dataset is clean and consistent</a:t>
            </a:r>
            <a:endParaRPr sz="170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 b="1">
                <a:solidFill>
                  <a:schemeClr val="dk1"/>
                </a:solidFill>
              </a:rPr>
              <a:t>Target Variable:</a:t>
            </a:r>
            <a:endParaRPr sz="1700" b="1">
              <a:solidFill>
                <a:schemeClr val="dk1"/>
              </a:solidFill>
            </a:endParaRPr>
          </a:p>
          <a:p>
            <a:pPr marL="457200" lvl="0" indent="-3365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700"/>
              <a:buChar char="●"/>
            </a:pPr>
            <a:r>
              <a:rPr lang="en" sz="1700">
                <a:solidFill>
                  <a:schemeClr val="dk1"/>
                </a:solidFill>
              </a:rPr>
              <a:t>salary_avg_usd = (salary_min_usd + salary_max_usd) / 2</a:t>
            </a:r>
            <a:endParaRPr sz="1700">
              <a:solidFill>
                <a:schemeClr val="dk1"/>
              </a:solidFill>
            </a:endParaRPr>
          </a:p>
          <a:p>
            <a:pPr marL="457200" lvl="0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Char char="●"/>
            </a:pPr>
            <a:r>
              <a:rPr lang="en" sz="1700">
                <a:solidFill>
                  <a:schemeClr val="dk1"/>
                </a:solidFill>
              </a:rPr>
              <a:t>Converts salary range into a single value for prediction</a:t>
            </a:r>
            <a:endParaRPr sz="17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92" name="Google Shape;92;p17"/>
          <p:cNvPicPr preferRelativeResize="0"/>
          <p:nvPr/>
        </p:nvPicPr>
        <p:blipFill rotWithShape="1">
          <a:blip r:embed="rId4">
            <a:alphaModFix/>
          </a:blip>
          <a:srcRect t="30619" b="30977"/>
          <a:stretch/>
        </p:blipFill>
        <p:spPr>
          <a:xfrm>
            <a:off x="76150" y="9211"/>
            <a:ext cx="2882025" cy="855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7" name="Google Shape;97;p18" title="slide-background-v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8"/>
          <p:cNvSpPr txBox="1"/>
          <p:nvPr/>
        </p:nvSpPr>
        <p:spPr>
          <a:xfrm>
            <a:off x="4855600" y="120036"/>
            <a:ext cx="3091800" cy="63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dirty="0">
                <a:latin typeface="+mj-lt"/>
                <a:ea typeface="Roboto Black"/>
                <a:cs typeface="Roboto Black"/>
                <a:sym typeface="Roboto Black"/>
              </a:rPr>
              <a:t>Feature Engineering &amp; Data Preparation:</a:t>
            </a:r>
            <a:endParaRPr sz="1800" b="1" dirty="0">
              <a:solidFill>
                <a:srgbClr val="000000"/>
              </a:solidFill>
              <a:latin typeface="+mj-lt"/>
              <a:ea typeface="Roboto"/>
              <a:cs typeface="Roboto"/>
              <a:sym typeface="Roboto"/>
            </a:endParaRPr>
          </a:p>
        </p:txBody>
      </p:sp>
      <p:sp>
        <p:nvSpPr>
          <p:cNvPr id="99" name="Google Shape;99;p18"/>
          <p:cNvSpPr txBox="1"/>
          <p:nvPr/>
        </p:nvSpPr>
        <p:spPr>
          <a:xfrm>
            <a:off x="311800" y="1319400"/>
            <a:ext cx="4543800" cy="335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Char char="●"/>
            </a:pPr>
            <a:r>
              <a:rPr lang="en" sz="1700">
                <a:solidFill>
                  <a:schemeClr val="dk1"/>
                </a:solidFill>
              </a:rPr>
              <a:t>Selected relevant features for prediction</a:t>
            </a:r>
            <a:endParaRPr sz="1700">
              <a:solidFill>
                <a:schemeClr val="dk1"/>
              </a:solidFill>
            </a:endParaRPr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Char char="●"/>
            </a:pPr>
            <a:r>
              <a:rPr lang="en" sz="1700">
                <a:solidFill>
                  <a:schemeClr val="dk1"/>
                </a:solidFill>
              </a:rPr>
              <a:t>Converted categorical variables using one-hot encoding</a:t>
            </a:r>
            <a:endParaRPr sz="1700">
              <a:solidFill>
                <a:schemeClr val="dk1"/>
              </a:solidFill>
            </a:endParaRPr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Char char="●"/>
            </a:pPr>
            <a:r>
              <a:rPr lang="en" sz="1700">
                <a:solidFill>
                  <a:schemeClr val="dk1"/>
                </a:solidFill>
              </a:rPr>
              <a:t>Prepared dataset for machine learning models</a:t>
            </a:r>
            <a:endParaRPr sz="1700">
              <a:solidFill>
                <a:schemeClr val="dk1"/>
              </a:solidFill>
            </a:endParaRPr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Char char="●"/>
            </a:pPr>
            <a:r>
              <a:rPr lang="en" sz="1700">
                <a:solidFill>
                  <a:schemeClr val="dk1"/>
                </a:solidFill>
              </a:rPr>
              <a:t>Train-test split: 80% training / 20% testing</a:t>
            </a:r>
            <a:endParaRPr sz="1700">
              <a:solidFill>
                <a:schemeClr val="dk1"/>
              </a:solidFill>
            </a:endParaRPr>
          </a:p>
          <a:p>
            <a:pPr marL="914400" lvl="1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AutoNum type="alphaLcPeriod"/>
            </a:pPr>
            <a:r>
              <a:rPr lang="en" sz="1700">
                <a:solidFill>
                  <a:schemeClr val="dk1"/>
                </a:solidFill>
              </a:rPr>
              <a:t>Training: 40,000 records</a:t>
            </a:r>
            <a:endParaRPr sz="1700">
              <a:solidFill>
                <a:schemeClr val="dk1"/>
              </a:solidFill>
            </a:endParaRPr>
          </a:p>
          <a:p>
            <a:pPr marL="914400" lvl="1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AutoNum type="alphaLcPeriod"/>
            </a:pPr>
            <a:r>
              <a:rPr lang="en" sz="1700">
                <a:solidFill>
                  <a:schemeClr val="dk1"/>
                </a:solidFill>
              </a:rPr>
              <a:t>Testing: 10,000 records</a:t>
            </a:r>
            <a:endParaRPr sz="1700">
              <a:solidFill>
                <a:schemeClr val="dk1"/>
              </a:solidFill>
            </a:endParaRPr>
          </a:p>
          <a:p>
            <a:pPr marL="457200" lvl="0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Char char="●"/>
            </a:pPr>
            <a:r>
              <a:rPr lang="en" sz="1700">
                <a:solidFill>
                  <a:schemeClr val="dk1"/>
                </a:solidFill>
              </a:rPr>
              <a:t>Plotted graphs that shows the key relations between features.</a:t>
            </a:r>
            <a:endParaRPr sz="17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00" name="Google Shape;100;p18"/>
          <p:cNvPicPr preferRelativeResize="0"/>
          <p:nvPr/>
        </p:nvPicPr>
        <p:blipFill rotWithShape="1">
          <a:blip r:embed="rId4">
            <a:alphaModFix/>
          </a:blip>
          <a:srcRect t="30619" b="30977"/>
          <a:stretch/>
        </p:blipFill>
        <p:spPr>
          <a:xfrm>
            <a:off x="76150" y="9211"/>
            <a:ext cx="2882025" cy="855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088349" y="1187575"/>
            <a:ext cx="3725699" cy="1755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8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088342" y="3080574"/>
            <a:ext cx="3531981" cy="1755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" name="Google Shape;107;p19" title="slide-background-v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19"/>
          <p:cNvSpPr txBox="1"/>
          <p:nvPr/>
        </p:nvSpPr>
        <p:spPr>
          <a:xfrm>
            <a:off x="4907491" y="235025"/>
            <a:ext cx="309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dirty="0">
                <a:latin typeface="+mj-lt"/>
                <a:ea typeface="Roboto Black"/>
                <a:cs typeface="Roboto Black"/>
                <a:sym typeface="Roboto Black"/>
              </a:rPr>
              <a:t>Models Implemented :</a:t>
            </a:r>
            <a:endParaRPr sz="1800" b="1" dirty="0">
              <a:solidFill>
                <a:srgbClr val="000000"/>
              </a:solidFill>
              <a:latin typeface="+mj-lt"/>
              <a:ea typeface="Roboto"/>
              <a:cs typeface="Roboto"/>
              <a:sym typeface="Roboto"/>
            </a:endParaRPr>
          </a:p>
        </p:txBody>
      </p:sp>
      <p:sp>
        <p:nvSpPr>
          <p:cNvPr id="109" name="Google Shape;109;p19"/>
          <p:cNvSpPr txBox="1"/>
          <p:nvPr/>
        </p:nvSpPr>
        <p:spPr>
          <a:xfrm>
            <a:off x="395550" y="1197175"/>
            <a:ext cx="8352900" cy="371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600" b="1" dirty="0">
                <a:solidFill>
                  <a:schemeClr val="dk1"/>
                </a:solidFill>
              </a:rPr>
              <a:t>Linear Regression</a:t>
            </a:r>
            <a:endParaRPr sz="1600" b="1" dirty="0">
              <a:solidFill>
                <a:schemeClr val="dk1"/>
              </a:solidFill>
            </a:endParaRPr>
          </a:p>
          <a:p>
            <a:pPr marL="45720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lang="en" sz="1600" dirty="0">
                <a:solidFill>
                  <a:schemeClr val="dk1"/>
                </a:solidFill>
              </a:rPr>
              <a:t>Baseline model for predicting continuous values</a:t>
            </a:r>
            <a:endParaRPr sz="1600" dirty="0">
              <a:solidFill>
                <a:schemeClr val="dk1"/>
              </a:solidFill>
            </a:endParaRPr>
          </a:p>
          <a:p>
            <a:pPr marL="45720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lang="en" sz="1600" dirty="0">
                <a:solidFill>
                  <a:schemeClr val="dk1"/>
                </a:solidFill>
              </a:rPr>
              <a:t>Assumes a linear relationship between input features and salary</a:t>
            </a:r>
            <a:endParaRPr sz="1600" dirty="0">
              <a:solidFill>
                <a:schemeClr val="dk1"/>
              </a:solidFill>
            </a:endParaRPr>
          </a:p>
          <a:p>
            <a:pPr marL="45720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lang="en" sz="1600" dirty="0">
                <a:solidFill>
                  <a:schemeClr val="dk1"/>
                </a:solidFill>
              </a:rPr>
              <a:t>Simple, fast, and easy to interpret</a:t>
            </a:r>
            <a:endParaRPr sz="1600" dirty="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600" b="1" dirty="0">
                <a:solidFill>
                  <a:schemeClr val="dk1"/>
                </a:solidFill>
              </a:rPr>
              <a:t>Random Forest Regressor</a:t>
            </a:r>
            <a:endParaRPr sz="1600" b="1" dirty="0">
              <a:solidFill>
                <a:schemeClr val="dk1"/>
              </a:solidFill>
            </a:endParaRPr>
          </a:p>
          <a:p>
            <a:pPr marL="45720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lang="en" sz="1600" dirty="0">
                <a:solidFill>
                  <a:schemeClr val="dk1"/>
                </a:solidFill>
              </a:rPr>
              <a:t>Ensemble model using multiple decision trees</a:t>
            </a:r>
            <a:endParaRPr sz="1600" dirty="0">
              <a:solidFill>
                <a:schemeClr val="dk1"/>
              </a:solidFill>
            </a:endParaRPr>
          </a:p>
          <a:p>
            <a:pPr marL="45720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lang="en" sz="1600" dirty="0">
                <a:solidFill>
                  <a:schemeClr val="dk1"/>
                </a:solidFill>
              </a:rPr>
              <a:t>Reduces overfitting by averaging predictions</a:t>
            </a:r>
            <a:endParaRPr sz="1600" dirty="0">
              <a:solidFill>
                <a:schemeClr val="dk1"/>
              </a:solidFill>
            </a:endParaRPr>
          </a:p>
          <a:p>
            <a:pPr marL="45720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lang="en" sz="1600" dirty="0">
                <a:solidFill>
                  <a:schemeClr val="dk1"/>
                </a:solidFill>
              </a:rPr>
              <a:t>Captures non-linear relationships in the data</a:t>
            </a:r>
            <a:endParaRPr sz="1600" dirty="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600" b="1" dirty="0">
                <a:solidFill>
                  <a:schemeClr val="dk1"/>
                </a:solidFill>
              </a:rPr>
              <a:t>Gradient Boosting Regressor</a:t>
            </a:r>
            <a:endParaRPr sz="1600" b="1" dirty="0">
              <a:solidFill>
                <a:schemeClr val="dk1"/>
              </a:solidFill>
            </a:endParaRPr>
          </a:p>
          <a:p>
            <a:pPr marL="45720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lang="en" sz="1600" dirty="0">
                <a:solidFill>
                  <a:schemeClr val="dk1"/>
                </a:solidFill>
              </a:rPr>
              <a:t>Sequential ensemble method that improves errors step-by-step</a:t>
            </a:r>
            <a:endParaRPr sz="1600" dirty="0">
              <a:solidFill>
                <a:schemeClr val="dk1"/>
              </a:solidFill>
            </a:endParaRPr>
          </a:p>
          <a:p>
            <a:pPr marL="45720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lang="en" sz="1600" dirty="0">
                <a:solidFill>
                  <a:schemeClr val="dk1"/>
                </a:solidFill>
              </a:rPr>
              <a:t>Each new model corrects the mistakes of the previous one</a:t>
            </a:r>
            <a:endParaRPr sz="1600" dirty="0">
              <a:solidFill>
                <a:schemeClr val="dk1"/>
              </a:solidFill>
            </a:endParaRPr>
          </a:p>
          <a:p>
            <a:pPr marL="45720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lang="en" sz="1600" dirty="0">
                <a:solidFill>
                  <a:schemeClr val="dk1"/>
                </a:solidFill>
              </a:rPr>
              <a:t>Highly effective for structured/tabular datasets</a:t>
            </a:r>
            <a:endParaRPr sz="1600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10" name="Google Shape;110;p19"/>
          <p:cNvPicPr preferRelativeResize="0"/>
          <p:nvPr/>
        </p:nvPicPr>
        <p:blipFill rotWithShape="1">
          <a:blip r:embed="rId4">
            <a:alphaModFix/>
          </a:blip>
          <a:srcRect t="30619" b="30977"/>
          <a:stretch/>
        </p:blipFill>
        <p:spPr>
          <a:xfrm>
            <a:off x="76150" y="9211"/>
            <a:ext cx="2882025" cy="855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5" name="Google Shape;115;p20" title="slide-background-v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6" name="Google Shape;116;p20"/>
          <p:cNvSpPr txBox="1"/>
          <p:nvPr/>
        </p:nvSpPr>
        <p:spPr>
          <a:xfrm>
            <a:off x="4892849" y="214058"/>
            <a:ext cx="309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dirty="0">
                <a:solidFill>
                  <a:schemeClr val="dk1"/>
                </a:solidFill>
                <a:latin typeface="+mj-lt"/>
                <a:ea typeface="Roboto Black" panose="02000000000000000000" pitchFamily="2" charset="0"/>
                <a:cs typeface="Roboto Black" panose="02000000000000000000" pitchFamily="2" charset="0"/>
              </a:rPr>
              <a:t>Evaluation Metrics:</a:t>
            </a:r>
            <a:endParaRPr sz="1800" b="1" dirty="0">
              <a:latin typeface="+mj-lt"/>
              <a:ea typeface="Roboto Black" panose="02000000000000000000" pitchFamily="2" charset="0"/>
              <a:cs typeface="Roboto Black" panose="02000000000000000000" pitchFamily="2" charset="0"/>
              <a:sym typeface="Roboto"/>
            </a:endParaRPr>
          </a:p>
        </p:txBody>
      </p:sp>
      <p:sp>
        <p:nvSpPr>
          <p:cNvPr id="117" name="Google Shape;117;p20"/>
          <p:cNvSpPr txBox="1"/>
          <p:nvPr/>
        </p:nvSpPr>
        <p:spPr>
          <a:xfrm>
            <a:off x="314125" y="1090350"/>
            <a:ext cx="4362900" cy="36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 b="1">
                <a:solidFill>
                  <a:schemeClr val="dk1"/>
                </a:solidFill>
              </a:rPr>
              <a:t>Mean Absolute Error (MAE):</a:t>
            </a:r>
            <a:endParaRPr sz="1300" b="1">
              <a:solidFill>
                <a:schemeClr val="dk1"/>
              </a:solidFill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" sz="1300">
                <a:solidFill>
                  <a:schemeClr val="dk1"/>
                </a:solidFill>
              </a:rPr>
              <a:t>Measures the average difference between predicted and actual salary</a:t>
            </a:r>
            <a:endParaRPr sz="1300">
              <a:solidFill>
                <a:schemeClr val="dk1"/>
              </a:solidFill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" sz="1300">
                <a:solidFill>
                  <a:schemeClr val="dk1"/>
                </a:solidFill>
              </a:rPr>
              <a:t>Easy to interpret (in USD)</a:t>
            </a:r>
            <a:endParaRPr sz="1300">
              <a:solidFill>
                <a:schemeClr val="dk1"/>
              </a:solidFill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" sz="1300">
                <a:solidFill>
                  <a:schemeClr val="dk1"/>
                </a:solidFill>
              </a:rPr>
              <a:t>Lower MAE indicates better accuracy</a:t>
            </a:r>
            <a:endParaRPr sz="130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 b="1">
                <a:solidFill>
                  <a:schemeClr val="dk1"/>
                </a:solidFill>
              </a:rPr>
              <a:t>Root Mean Squared Error (RMSE):</a:t>
            </a:r>
            <a:endParaRPr sz="1300" b="1">
              <a:solidFill>
                <a:schemeClr val="dk1"/>
              </a:solidFill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" sz="1300">
                <a:solidFill>
                  <a:schemeClr val="dk1"/>
                </a:solidFill>
              </a:rPr>
              <a:t>Measures the square root of average squared errors</a:t>
            </a:r>
            <a:endParaRPr sz="1300">
              <a:solidFill>
                <a:schemeClr val="dk1"/>
              </a:solidFill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" sz="1300">
                <a:solidFill>
                  <a:schemeClr val="dk1"/>
                </a:solidFill>
              </a:rPr>
              <a:t>Penalizes large prediction errors more than MAE</a:t>
            </a:r>
            <a:endParaRPr sz="1300">
              <a:solidFill>
                <a:schemeClr val="dk1"/>
              </a:solidFill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" sz="1300">
                <a:solidFill>
                  <a:schemeClr val="dk1"/>
                </a:solidFill>
              </a:rPr>
              <a:t>Useful for identifying models with large deviations</a:t>
            </a:r>
            <a:endParaRPr sz="130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 b="1">
                <a:solidFill>
                  <a:schemeClr val="dk1"/>
                </a:solidFill>
              </a:rPr>
              <a:t>R² Score (Coefficient of Determination):</a:t>
            </a:r>
            <a:endParaRPr sz="1300" b="1">
              <a:solidFill>
                <a:schemeClr val="dk1"/>
              </a:solidFill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" sz="1300">
                <a:solidFill>
                  <a:schemeClr val="dk1"/>
                </a:solidFill>
              </a:rPr>
              <a:t>Indicates how well the model explains variance in salary</a:t>
            </a:r>
            <a:endParaRPr sz="1300">
              <a:solidFill>
                <a:schemeClr val="dk1"/>
              </a:solidFill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" sz="1300">
                <a:solidFill>
                  <a:schemeClr val="dk1"/>
                </a:solidFill>
              </a:rPr>
              <a:t>Value ranges from 0 to 1</a:t>
            </a:r>
            <a:endParaRPr sz="1300">
              <a:solidFill>
                <a:schemeClr val="dk1"/>
              </a:solidFill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" sz="1300">
                <a:solidFill>
                  <a:schemeClr val="dk1"/>
                </a:solidFill>
              </a:rPr>
              <a:t>Closer to 1 means better model performance</a:t>
            </a:r>
            <a:endParaRPr sz="13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18" name="Google Shape;118;p20"/>
          <p:cNvPicPr preferRelativeResize="0"/>
          <p:nvPr/>
        </p:nvPicPr>
        <p:blipFill rotWithShape="1">
          <a:blip r:embed="rId4">
            <a:alphaModFix/>
          </a:blip>
          <a:srcRect t="30619" b="30977"/>
          <a:stretch/>
        </p:blipFill>
        <p:spPr>
          <a:xfrm>
            <a:off x="76150" y="9211"/>
            <a:ext cx="2882025" cy="855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9" name="Google Shape;119;p2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677025" y="1310050"/>
            <a:ext cx="4266476" cy="294700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1" title="slide-background-v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25" name="Google Shape;125;p21"/>
          <p:cNvSpPr txBox="1"/>
          <p:nvPr/>
        </p:nvSpPr>
        <p:spPr>
          <a:xfrm>
            <a:off x="4855610" y="80012"/>
            <a:ext cx="3091800" cy="713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dirty="0">
                <a:latin typeface="+mj-lt"/>
                <a:ea typeface="Roboto Black"/>
                <a:cs typeface="Roboto Black"/>
                <a:sym typeface="Roboto Black"/>
              </a:rPr>
              <a:t>Model Performance Comparison :</a:t>
            </a:r>
            <a:endParaRPr sz="1800" b="1" dirty="0">
              <a:solidFill>
                <a:srgbClr val="000000"/>
              </a:solidFill>
              <a:latin typeface="+mj-lt"/>
              <a:ea typeface="Roboto"/>
              <a:cs typeface="Roboto"/>
              <a:sym typeface="Roboto"/>
            </a:endParaRPr>
          </a:p>
        </p:txBody>
      </p:sp>
      <p:sp>
        <p:nvSpPr>
          <p:cNvPr id="126" name="Google Shape;126;p21"/>
          <p:cNvSpPr txBox="1"/>
          <p:nvPr/>
        </p:nvSpPr>
        <p:spPr>
          <a:xfrm>
            <a:off x="540975" y="1545125"/>
            <a:ext cx="3731700" cy="123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Font typeface="Roboto"/>
              <a:buChar char="●"/>
            </a:pPr>
            <a:r>
              <a:rPr lang="en" sz="1600">
                <a:latin typeface="Roboto"/>
                <a:ea typeface="Roboto"/>
                <a:cs typeface="Roboto"/>
                <a:sym typeface="Roboto"/>
              </a:rPr>
              <a:t>Linear Regression and Gradient Boosting performed best</a:t>
            </a:r>
            <a:endParaRPr sz="1600">
              <a:latin typeface="Roboto"/>
              <a:ea typeface="Roboto"/>
              <a:cs typeface="Roboto"/>
              <a:sym typeface="Roboto"/>
            </a:endParaRPr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Font typeface="Roboto"/>
              <a:buChar char="●"/>
            </a:pPr>
            <a:r>
              <a:rPr lang="en" sz="1600">
                <a:latin typeface="Roboto"/>
                <a:ea typeface="Roboto"/>
                <a:cs typeface="Roboto"/>
                <a:sym typeface="Roboto"/>
              </a:rPr>
              <a:t>Random Forest showed slightly lower performance</a:t>
            </a:r>
            <a:endParaRPr sz="16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27" name="Google Shape;127;p21"/>
          <p:cNvPicPr preferRelativeResize="0"/>
          <p:nvPr/>
        </p:nvPicPr>
        <p:blipFill rotWithShape="1">
          <a:blip r:embed="rId4">
            <a:alphaModFix/>
          </a:blip>
          <a:srcRect t="30619" b="30977"/>
          <a:stretch/>
        </p:blipFill>
        <p:spPr>
          <a:xfrm>
            <a:off x="76150" y="9211"/>
            <a:ext cx="2882025" cy="855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8" name="Google Shape;128;p2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572000" y="1545125"/>
            <a:ext cx="4199876" cy="15865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3" name="Google Shape;133;p22" title="slide-background-v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2"/>
          <p:cNvSpPr txBox="1"/>
          <p:nvPr/>
        </p:nvSpPr>
        <p:spPr>
          <a:xfrm>
            <a:off x="4888400" y="150475"/>
            <a:ext cx="3031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dirty="0">
                <a:latin typeface="+mj-lt"/>
                <a:ea typeface="Roboto Black"/>
                <a:cs typeface="Roboto Black"/>
                <a:sym typeface="Roboto Black"/>
              </a:rPr>
              <a:t>Model Selection :</a:t>
            </a:r>
            <a:endParaRPr sz="1800" b="1" dirty="0">
              <a:solidFill>
                <a:srgbClr val="000000"/>
              </a:solidFill>
              <a:latin typeface="+mj-lt"/>
              <a:ea typeface="Roboto Black"/>
              <a:cs typeface="Roboto Black"/>
              <a:sym typeface="Roboto Black"/>
            </a:endParaRPr>
          </a:p>
        </p:txBody>
      </p:sp>
      <p:sp>
        <p:nvSpPr>
          <p:cNvPr id="135" name="Google Shape;135;p22"/>
          <p:cNvSpPr txBox="1"/>
          <p:nvPr/>
        </p:nvSpPr>
        <p:spPr>
          <a:xfrm>
            <a:off x="467875" y="1113150"/>
            <a:ext cx="3759000" cy="385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" sz="1300">
                <a:solidFill>
                  <a:schemeClr val="dk1"/>
                </a:solidFill>
              </a:rPr>
              <a:t>Based on comparison of MAE, RMSE, and R² scores</a:t>
            </a:r>
            <a:endParaRPr sz="1300">
              <a:solidFill>
                <a:schemeClr val="dk1"/>
              </a:solidFill>
            </a:endParaRP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" sz="1300">
                <a:solidFill>
                  <a:schemeClr val="dk1"/>
                </a:solidFill>
              </a:rPr>
              <a:t>Linear Regression and Gradient Boosting showed highest accuracy</a:t>
            </a:r>
            <a:endParaRPr sz="1300">
              <a:solidFill>
                <a:schemeClr val="dk1"/>
              </a:solidFill>
            </a:endParaRP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" sz="1300">
                <a:solidFill>
                  <a:schemeClr val="dk1"/>
                </a:solidFill>
              </a:rPr>
              <a:t>Random Forest performed slightly lower in comparison</a:t>
            </a:r>
            <a:endParaRPr sz="1300">
              <a:solidFill>
                <a:schemeClr val="dk1"/>
              </a:solidFill>
            </a:endParaRP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" sz="1300">
                <a:solidFill>
                  <a:schemeClr val="dk1"/>
                </a:solidFill>
              </a:rPr>
              <a:t>Gradient Boosting selected because:</a:t>
            </a:r>
            <a:endParaRPr sz="1300">
              <a:solidFill>
                <a:schemeClr val="dk1"/>
              </a:solidFill>
            </a:endParaRPr>
          </a:p>
          <a:p>
            <a:pPr marL="914400" lvl="1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AutoNum type="alphaLcPeriod"/>
            </a:pPr>
            <a:r>
              <a:rPr lang="en" sz="1300">
                <a:solidFill>
                  <a:schemeClr val="dk1"/>
                </a:solidFill>
              </a:rPr>
              <a:t>Captures complex feature interactions</a:t>
            </a:r>
            <a:endParaRPr sz="1300">
              <a:solidFill>
                <a:schemeClr val="dk1"/>
              </a:solidFill>
            </a:endParaRPr>
          </a:p>
          <a:p>
            <a:pPr marL="914400" lvl="1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AutoNum type="alphaLcPeriod"/>
            </a:pPr>
            <a:r>
              <a:rPr lang="en" sz="1300">
                <a:solidFill>
                  <a:schemeClr val="dk1"/>
                </a:solidFill>
              </a:rPr>
              <a:t>Handles non-linear relationships effectively</a:t>
            </a:r>
            <a:endParaRPr sz="1300">
              <a:solidFill>
                <a:schemeClr val="dk1"/>
              </a:solidFill>
            </a:endParaRPr>
          </a:p>
          <a:p>
            <a:pPr marL="914400" lvl="1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AutoNum type="alphaLcPeriod"/>
            </a:pPr>
            <a:r>
              <a:rPr lang="en" sz="1300">
                <a:solidFill>
                  <a:schemeClr val="dk1"/>
                </a:solidFill>
              </a:rPr>
              <a:t>Provides stable and consistent performance</a:t>
            </a:r>
            <a:endParaRPr sz="1300">
              <a:solidFill>
                <a:schemeClr val="dk1"/>
              </a:solidFill>
            </a:endParaRPr>
          </a:p>
          <a:p>
            <a:pPr marL="914400" lvl="1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AutoNum type="alphaLcPeriod"/>
            </a:pPr>
            <a:r>
              <a:rPr lang="en" sz="1300">
                <a:solidFill>
                  <a:schemeClr val="dk1"/>
                </a:solidFill>
              </a:rPr>
              <a:t>Performs well on large structured datasets</a:t>
            </a:r>
            <a:endParaRPr sz="1300">
              <a:solidFill>
                <a:schemeClr val="dk1"/>
              </a:solidFill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" sz="1300">
                <a:solidFill>
                  <a:schemeClr val="dk1"/>
                </a:solidFill>
              </a:rPr>
              <a:t>Selected model used for further optimization and testing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36" name="Google Shape;136;p22"/>
          <p:cNvPicPr preferRelativeResize="0"/>
          <p:nvPr/>
        </p:nvPicPr>
        <p:blipFill rotWithShape="1">
          <a:blip r:embed="rId4">
            <a:alphaModFix/>
          </a:blip>
          <a:srcRect t="30619" b="30977"/>
          <a:stretch/>
        </p:blipFill>
        <p:spPr>
          <a:xfrm>
            <a:off x="76150" y="9211"/>
            <a:ext cx="2882025" cy="855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7" name="Google Shape;137;p22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226875" y="2059200"/>
            <a:ext cx="4762500" cy="160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2" name="Google Shape;142;p23" title="slide-background-v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23"/>
          <p:cNvSpPr txBox="1"/>
          <p:nvPr/>
        </p:nvSpPr>
        <p:spPr>
          <a:xfrm>
            <a:off x="4846100" y="150475"/>
            <a:ext cx="38013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dirty="0">
                <a:latin typeface="+mj-lt"/>
                <a:ea typeface="Roboto Black"/>
                <a:cs typeface="Roboto Black"/>
                <a:sym typeface="Roboto Black"/>
              </a:rPr>
              <a:t>Hyperparameter Tuning &amp; Residual Analysis:</a:t>
            </a:r>
            <a:endParaRPr sz="1800" b="1" dirty="0">
              <a:solidFill>
                <a:srgbClr val="000000"/>
              </a:solidFill>
              <a:latin typeface="+mj-lt"/>
              <a:ea typeface="Roboto Black"/>
              <a:cs typeface="Roboto Black"/>
              <a:sym typeface="Roboto Black"/>
            </a:endParaRPr>
          </a:p>
        </p:txBody>
      </p:sp>
      <p:sp>
        <p:nvSpPr>
          <p:cNvPr id="144" name="Google Shape;144;p23"/>
          <p:cNvSpPr txBox="1"/>
          <p:nvPr/>
        </p:nvSpPr>
        <p:spPr>
          <a:xfrm>
            <a:off x="440300" y="1185800"/>
            <a:ext cx="3060900" cy="336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">
                <a:solidFill>
                  <a:schemeClr val="dk1"/>
                </a:solidFill>
              </a:rPr>
              <a:t>Performed using </a:t>
            </a:r>
            <a:r>
              <a:rPr lang="en" b="1">
                <a:solidFill>
                  <a:schemeClr val="dk1"/>
                </a:solidFill>
              </a:rPr>
              <a:t>GridSearchCV</a:t>
            </a:r>
            <a:endParaRPr b="1">
              <a:solidFill>
                <a:schemeClr val="dk1"/>
              </a:solidFill>
            </a:endParaRPr>
          </a:p>
          <a:p>
            <a:pPr marL="45720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">
                <a:solidFill>
                  <a:schemeClr val="dk1"/>
                </a:solidFill>
              </a:rPr>
              <a:t>Best parameters:</a:t>
            </a:r>
            <a:endParaRPr>
              <a:solidFill>
                <a:schemeClr val="dk1"/>
              </a:solidFill>
            </a:endParaRPr>
          </a:p>
          <a:p>
            <a:pPr marL="91440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</a:pPr>
            <a:r>
              <a:rPr lang="en">
                <a:solidFill>
                  <a:schemeClr val="dk1"/>
                </a:solidFill>
              </a:rPr>
              <a:t>n_estimators = 200</a:t>
            </a:r>
            <a:endParaRPr>
              <a:solidFill>
                <a:schemeClr val="dk1"/>
              </a:solidFill>
            </a:endParaRPr>
          </a:p>
          <a:p>
            <a:pPr marL="91440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</a:pPr>
            <a:r>
              <a:rPr lang="en">
                <a:solidFill>
                  <a:schemeClr val="dk1"/>
                </a:solidFill>
              </a:rPr>
              <a:t>learning_rate = 0.05</a:t>
            </a:r>
            <a:endParaRPr>
              <a:solidFill>
                <a:schemeClr val="dk1"/>
              </a:solidFill>
            </a:endParaRPr>
          </a:p>
          <a:p>
            <a:pPr marL="91440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</a:pPr>
            <a:r>
              <a:rPr lang="en">
                <a:solidFill>
                  <a:schemeClr val="dk1"/>
                </a:solidFill>
              </a:rPr>
              <a:t>max_depth = 3</a:t>
            </a:r>
            <a:endParaRPr>
              <a:solidFill>
                <a:schemeClr val="dk1"/>
              </a:solidFill>
            </a:endParaRPr>
          </a:p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dk1"/>
                </a:solidFill>
              </a:rPr>
              <a:t>Optimized Results:</a:t>
            </a:r>
            <a:endParaRPr b="1">
              <a:solidFill>
                <a:schemeClr val="dk1"/>
              </a:solidFill>
            </a:endParaRPr>
          </a:p>
          <a:p>
            <a:pPr marL="45720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">
                <a:solidFill>
                  <a:schemeClr val="dk1"/>
                </a:solidFill>
              </a:rPr>
              <a:t>MAE: 3522</a:t>
            </a:r>
            <a:endParaRPr>
              <a:solidFill>
                <a:schemeClr val="dk1"/>
              </a:solidFill>
            </a:endParaRPr>
          </a:p>
          <a:p>
            <a:pPr marL="45720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">
                <a:solidFill>
                  <a:schemeClr val="dk1"/>
                </a:solidFill>
              </a:rPr>
              <a:t>RMSE: 4222</a:t>
            </a:r>
            <a:endParaRPr>
              <a:solidFill>
                <a:schemeClr val="dk1"/>
              </a:solidFill>
            </a:endParaRPr>
          </a:p>
          <a:p>
            <a:pPr marL="45720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">
                <a:solidFill>
                  <a:schemeClr val="dk1"/>
                </a:solidFill>
              </a:rPr>
              <a:t>R²: 0.9869</a:t>
            </a:r>
            <a:endParaRPr>
              <a:solidFill>
                <a:schemeClr val="dk1"/>
              </a:solidFill>
            </a:endParaRPr>
          </a:p>
          <a:p>
            <a:pPr marL="45720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">
                <a:solidFill>
                  <a:schemeClr val="dk1"/>
                </a:solidFill>
              </a:rPr>
              <a:t>Minimal improvement → model already near optimal 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45" name="Google Shape;145;p23"/>
          <p:cNvPicPr preferRelativeResize="0"/>
          <p:nvPr/>
        </p:nvPicPr>
        <p:blipFill rotWithShape="1">
          <a:blip r:embed="rId4">
            <a:alphaModFix/>
          </a:blip>
          <a:srcRect t="30619" b="30977"/>
          <a:stretch/>
        </p:blipFill>
        <p:spPr>
          <a:xfrm>
            <a:off x="76150" y="9211"/>
            <a:ext cx="2882025" cy="855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6" name="Google Shape;146;p2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501200" y="1286825"/>
            <a:ext cx="5541726" cy="29803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1" name="Google Shape;151;p24" title="slide-background-v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24"/>
          <p:cNvSpPr txBox="1"/>
          <p:nvPr/>
        </p:nvSpPr>
        <p:spPr>
          <a:xfrm>
            <a:off x="4964550" y="150475"/>
            <a:ext cx="3387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dirty="0">
                <a:latin typeface="+mj-lt"/>
                <a:ea typeface="Roboto Black"/>
                <a:cs typeface="Roboto Black"/>
                <a:sym typeface="Roboto Black"/>
              </a:rPr>
              <a:t>Test Case Predictions (Example 1)</a:t>
            </a:r>
            <a:endParaRPr sz="1800" b="1" dirty="0">
              <a:solidFill>
                <a:srgbClr val="000000"/>
              </a:solidFill>
              <a:latin typeface="+mj-lt"/>
              <a:ea typeface="Roboto Black"/>
              <a:cs typeface="Roboto Black"/>
              <a:sym typeface="Roboto Black"/>
            </a:endParaRPr>
          </a:p>
        </p:txBody>
      </p:sp>
      <p:sp>
        <p:nvSpPr>
          <p:cNvPr id="153" name="Google Shape;153;p24"/>
          <p:cNvSpPr txBox="1"/>
          <p:nvPr/>
        </p:nvSpPr>
        <p:spPr>
          <a:xfrm>
            <a:off x="458675" y="1125900"/>
            <a:ext cx="2646600" cy="355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600" b="1" dirty="0">
                <a:solidFill>
                  <a:schemeClr val="dk1"/>
                </a:solidFill>
              </a:rPr>
              <a:t>Input:</a:t>
            </a:r>
            <a:endParaRPr sz="1600" b="1" dirty="0">
              <a:solidFill>
                <a:schemeClr val="dk1"/>
              </a:solidFill>
            </a:endParaRPr>
          </a:p>
          <a:p>
            <a:pPr marL="45720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lang="en" sz="1600" dirty="0">
                <a:solidFill>
                  <a:schemeClr val="dk1"/>
                </a:solidFill>
              </a:rPr>
              <a:t>Job Title: Data Scientist</a:t>
            </a:r>
            <a:endParaRPr sz="1600" dirty="0">
              <a:solidFill>
                <a:schemeClr val="dk1"/>
              </a:solidFill>
            </a:endParaRPr>
          </a:p>
          <a:p>
            <a:pPr marL="45720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lang="en" sz="1600" dirty="0">
                <a:solidFill>
                  <a:schemeClr val="dk1"/>
                </a:solidFill>
              </a:rPr>
              <a:t>Experience Level: Mid-level</a:t>
            </a:r>
            <a:endParaRPr sz="1600" dirty="0">
              <a:solidFill>
                <a:schemeClr val="dk1"/>
              </a:solidFill>
            </a:endParaRPr>
          </a:p>
          <a:p>
            <a:pPr marL="45720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lang="en" sz="1600" dirty="0">
                <a:solidFill>
                  <a:schemeClr val="dk1"/>
                </a:solidFill>
              </a:rPr>
              <a:t>Experience: 3 years</a:t>
            </a:r>
            <a:endParaRPr sz="1600" dirty="0">
              <a:solidFill>
                <a:schemeClr val="dk1"/>
              </a:solidFill>
            </a:endParaRPr>
          </a:p>
          <a:p>
            <a:pPr marL="45720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lang="en" sz="1600" dirty="0">
                <a:solidFill>
                  <a:schemeClr val="dk1"/>
                </a:solidFill>
              </a:rPr>
              <a:t>Location: USA</a:t>
            </a:r>
            <a:endParaRPr sz="1600" dirty="0">
              <a:solidFill>
                <a:schemeClr val="dk1"/>
              </a:solidFill>
            </a:endParaRPr>
          </a:p>
          <a:p>
            <a:pPr marL="45720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lang="en" sz="1600" dirty="0">
                <a:solidFill>
                  <a:schemeClr val="dk1"/>
                </a:solidFill>
              </a:rPr>
              <a:t>Remote Type: Hybrid</a:t>
            </a:r>
            <a:endParaRPr sz="1600" dirty="0">
              <a:solidFill>
                <a:schemeClr val="dk1"/>
              </a:solidFill>
            </a:endParaRPr>
          </a:p>
          <a:p>
            <a:pPr marL="45720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lang="en" sz="1600" dirty="0">
                <a:solidFill>
                  <a:schemeClr val="dk1"/>
                </a:solidFill>
              </a:rPr>
              <a:t>Company Type: Medium</a:t>
            </a:r>
            <a:endParaRPr sz="1600" dirty="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600" b="1" dirty="0">
                <a:solidFill>
                  <a:schemeClr val="dk1"/>
                </a:solidFill>
              </a:rPr>
              <a:t>Prediction Result:</a:t>
            </a:r>
            <a:endParaRPr sz="1600" b="1" dirty="0">
              <a:solidFill>
                <a:schemeClr val="dk1"/>
              </a:solidFill>
            </a:endParaRPr>
          </a:p>
          <a:p>
            <a:pPr marL="45720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lang="en" sz="1600" dirty="0">
                <a:solidFill>
                  <a:schemeClr val="dk1"/>
                </a:solidFill>
              </a:rPr>
              <a:t>Predicted Salary: ~$107,552</a:t>
            </a:r>
            <a:endParaRPr sz="1600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54" name="Google Shape;154;p24"/>
          <p:cNvPicPr preferRelativeResize="0"/>
          <p:nvPr/>
        </p:nvPicPr>
        <p:blipFill rotWithShape="1">
          <a:blip r:embed="rId4">
            <a:alphaModFix/>
          </a:blip>
          <a:srcRect t="30619" b="30977"/>
          <a:stretch/>
        </p:blipFill>
        <p:spPr>
          <a:xfrm>
            <a:off x="76150" y="9211"/>
            <a:ext cx="2882025" cy="855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432AA56-BB9A-5AC9-A209-76D937D1F20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39773" y="1455038"/>
            <a:ext cx="5597908" cy="3129841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0" name="Google Shape;160;p25" title="slide-background-v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25"/>
          <p:cNvSpPr txBox="1"/>
          <p:nvPr/>
        </p:nvSpPr>
        <p:spPr>
          <a:xfrm>
            <a:off x="4964550" y="150475"/>
            <a:ext cx="3387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dirty="0">
                <a:latin typeface="+mj-lt"/>
                <a:ea typeface="Roboto Black"/>
                <a:cs typeface="Roboto Black"/>
                <a:sym typeface="Roboto Black"/>
              </a:rPr>
              <a:t>Test Case Predictions (Example 2)</a:t>
            </a:r>
            <a:endParaRPr sz="1800" b="1" dirty="0">
              <a:solidFill>
                <a:srgbClr val="000000"/>
              </a:solidFill>
              <a:latin typeface="+mj-lt"/>
              <a:ea typeface="Roboto Black"/>
              <a:cs typeface="Roboto Black"/>
              <a:sym typeface="Roboto Black"/>
            </a:endParaRPr>
          </a:p>
        </p:txBody>
      </p:sp>
      <p:sp>
        <p:nvSpPr>
          <p:cNvPr id="162" name="Google Shape;162;p25"/>
          <p:cNvSpPr txBox="1"/>
          <p:nvPr/>
        </p:nvSpPr>
        <p:spPr>
          <a:xfrm>
            <a:off x="431125" y="1160425"/>
            <a:ext cx="2882100" cy="362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b="1" dirty="0">
                <a:solidFill>
                  <a:schemeClr val="dk1"/>
                </a:solidFill>
              </a:rPr>
              <a:t>Input:</a:t>
            </a:r>
            <a:endParaRPr sz="1600" b="1" dirty="0">
              <a:solidFill>
                <a:schemeClr val="dk1"/>
              </a:solidFill>
            </a:endParaRPr>
          </a:p>
          <a:p>
            <a:pPr marL="45720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lang="en" sz="1600" dirty="0">
                <a:solidFill>
                  <a:schemeClr val="dk1"/>
                </a:solidFill>
              </a:rPr>
              <a:t>Job Title: Machine Learning Engineer</a:t>
            </a:r>
            <a:endParaRPr sz="1600" dirty="0">
              <a:solidFill>
                <a:schemeClr val="dk1"/>
              </a:solidFill>
            </a:endParaRPr>
          </a:p>
          <a:p>
            <a:pPr marL="45720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lang="en" sz="1600" dirty="0">
                <a:solidFill>
                  <a:schemeClr val="dk1"/>
                </a:solidFill>
              </a:rPr>
              <a:t>Experience Level: Senior</a:t>
            </a:r>
            <a:endParaRPr sz="1600" dirty="0">
              <a:solidFill>
                <a:schemeClr val="dk1"/>
              </a:solidFill>
            </a:endParaRPr>
          </a:p>
          <a:p>
            <a:pPr marL="45720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lang="en" sz="1600" dirty="0">
                <a:solidFill>
                  <a:schemeClr val="dk1"/>
                </a:solidFill>
              </a:rPr>
              <a:t>Experience: 7 years</a:t>
            </a:r>
            <a:endParaRPr sz="1600" dirty="0">
              <a:solidFill>
                <a:schemeClr val="dk1"/>
              </a:solidFill>
            </a:endParaRPr>
          </a:p>
          <a:p>
            <a:pPr marL="45720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lang="en" sz="1600" dirty="0">
                <a:solidFill>
                  <a:schemeClr val="dk1"/>
                </a:solidFill>
              </a:rPr>
              <a:t>Location: USA</a:t>
            </a:r>
            <a:endParaRPr sz="1600" dirty="0">
              <a:solidFill>
                <a:schemeClr val="dk1"/>
              </a:solidFill>
            </a:endParaRPr>
          </a:p>
          <a:p>
            <a:pPr marL="45720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lang="en" sz="1600" dirty="0">
                <a:solidFill>
                  <a:schemeClr val="dk1"/>
                </a:solidFill>
              </a:rPr>
              <a:t>Remote Type: Remote</a:t>
            </a:r>
            <a:endParaRPr sz="1600" dirty="0">
              <a:solidFill>
                <a:schemeClr val="dk1"/>
              </a:solidFill>
            </a:endParaRPr>
          </a:p>
          <a:p>
            <a:pPr marL="45720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lang="en" sz="1600" dirty="0">
                <a:solidFill>
                  <a:schemeClr val="dk1"/>
                </a:solidFill>
              </a:rPr>
              <a:t>Company Type: Large</a:t>
            </a:r>
            <a:endParaRPr sz="1600" dirty="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b="1" dirty="0">
                <a:solidFill>
                  <a:schemeClr val="dk1"/>
                </a:solidFill>
              </a:rPr>
              <a:t>Prediction Result:</a:t>
            </a:r>
            <a:endParaRPr sz="1600" b="1" dirty="0">
              <a:solidFill>
                <a:schemeClr val="dk1"/>
              </a:solidFill>
            </a:endParaRPr>
          </a:p>
          <a:p>
            <a:pPr marL="45720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lang="en" sz="1600" dirty="0">
                <a:solidFill>
                  <a:schemeClr val="dk1"/>
                </a:solidFill>
              </a:rPr>
              <a:t>Predicted Salary: ~$157,471</a:t>
            </a:r>
            <a:endParaRPr sz="1600" dirty="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endParaRPr sz="1100" b="1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sz="1200" dirty="0"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63" name="Google Shape;163;p25"/>
          <p:cNvPicPr preferRelativeResize="0"/>
          <p:nvPr/>
        </p:nvPicPr>
        <p:blipFill rotWithShape="1">
          <a:blip r:embed="rId4">
            <a:alphaModFix/>
          </a:blip>
          <a:srcRect t="30619" b="30977"/>
          <a:stretch/>
        </p:blipFill>
        <p:spPr>
          <a:xfrm>
            <a:off x="76150" y="9211"/>
            <a:ext cx="2882025" cy="855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D7A3D4C4-8705-C71D-DAD6-0512FFBAC4D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13225" y="1367427"/>
            <a:ext cx="5652943" cy="321329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9" name="Google Shape;169;p26" title="slide-background-v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26"/>
          <p:cNvSpPr txBox="1"/>
          <p:nvPr/>
        </p:nvSpPr>
        <p:spPr>
          <a:xfrm>
            <a:off x="4913775" y="150475"/>
            <a:ext cx="3268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dirty="0">
                <a:latin typeface="+mj-lt"/>
                <a:ea typeface="Roboto Black"/>
                <a:cs typeface="Roboto Black"/>
                <a:sym typeface="Roboto Black"/>
              </a:rPr>
              <a:t>Future Improvements:</a:t>
            </a:r>
            <a:endParaRPr sz="1800" b="1" dirty="0">
              <a:solidFill>
                <a:srgbClr val="000000"/>
              </a:solidFill>
              <a:latin typeface="+mj-lt"/>
              <a:ea typeface="Roboto Black"/>
              <a:cs typeface="Roboto Black"/>
              <a:sym typeface="Roboto Black"/>
            </a:endParaRPr>
          </a:p>
        </p:txBody>
      </p:sp>
      <p:sp>
        <p:nvSpPr>
          <p:cNvPr id="171" name="Google Shape;171;p26"/>
          <p:cNvSpPr txBox="1"/>
          <p:nvPr/>
        </p:nvSpPr>
        <p:spPr>
          <a:xfrm>
            <a:off x="311700" y="1179275"/>
            <a:ext cx="8520600" cy="245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30200" algn="l" rtl="0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lang="en" sz="1700" dirty="0">
                <a:latin typeface="+mn-lt"/>
                <a:ea typeface="Roboto"/>
                <a:cs typeface="Roboto"/>
                <a:sym typeface="Roboto"/>
              </a:rPr>
              <a:t>Include more features such as skills and company size</a:t>
            </a:r>
            <a:endParaRPr sz="1700" dirty="0">
              <a:latin typeface="+mn-lt"/>
              <a:ea typeface="Roboto"/>
              <a:cs typeface="Roboto"/>
              <a:sym typeface="Roboto"/>
            </a:endParaRPr>
          </a:p>
          <a:p>
            <a:pPr marL="457200" lvl="0" indent="-330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lang="en" sz="1700" dirty="0">
                <a:latin typeface="+mn-lt"/>
                <a:ea typeface="Roboto"/>
                <a:cs typeface="Roboto"/>
                <a:sym typeface="Roboto"/>
              </a:rPr>
              <a:t>Use advanced models like XGBoost or LightGBM</a:t>
            </a:r>
            <a:endParaRPr sz="1700" dirty="0">
              <a:latin typeface="+mn-lt"/>
              <a:ea typeface="Roboto"/>
              <a:cs typeface="Roboto"/>
              <a:sym typeface="Roboto"/>
            </a:endParaRPr>
          </a:p>
          <a:p>
            <a:pPr marL="457200" lvl="0" indent="-330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lang="en" sz="1700" dirty="0">
                <a:latin typeface="+mn-lt"/>
                <a:ea typeface="Roboto"/>
                <a:cs typeface="Roboto"/>
                <a:sym typeface="Roboto"/>
              </a:rPr>
              <a:t>Apply cross-validation for better generalization</a:t>
            </a:r>
            <a:endParaRPr sz="1700" dirty="0">
              <a:latin typeface="+mn-lt"/>
              <a:ea typeface="Roboto"/>
              <a:cs typeface="Roboto"/>
              <a:sym typeface="Roboto"/>
            </a:endParaRPr>
          </a:p>
          <a:p>
            <a:pPr marL="457200" lvl="0" indent="-330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lang="en" sz="1700" dirty="0">
                <a:latin typeface="+mn-lt"/>
                <a:ea typeface="Roboto"/>
                <a:cs typeface="Roboto"/>
                <a:sym typeface="Roboto"/>
              </a:rPr>
              <a:t>Improve feature selection and reduce redundancy</a:t>
            </a:r>
            <a:endParaRPr sz="1700" dirty="0">
              <a:latin typeface="+mn-lt"/>
              <a:ea typeface="Roboto"/>
              <a:cs typeface="Roboto"/>
              <a:sym typeface="Roboto"/>
            </a:endParaRPr>
          </a:p>
          <a:p>
            <a:pPr marL="457200" lvl="0" indent="-330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lang="en" sz="1700" dirty="0">
                <a:latin typeface="+mn-lt"/>
                <a:ea typeface="Roboto"/>
                <a:cs typeface="Roboto"/>
                <a:sym typeface="Roboto"/>
              </a:rPr>
              <a:t>Deploy model as a real-time application </a:t>
            </a:r>
            <a:endParaRPr sz="1700" dirty="0">
              <a:latin typeface="+mn-lt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sz="1200" dirty="0"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72" name="Google Shape;172;p26"/>
          <p:cNvPicPr preferRelativeResize="0"/>
          <p:nvPr/>
        </p:nvPicPr>
        <p:blipFill rotWithShape="1">
          <a:blip r:embed="rId4">
            <a:alphaModFix/>
          </a:blip>
          <a:srcRect t="30619" b="30977"/>
          <a:stretch/>
        </p:blipFill>
        <p:spPr>
          <a:xfrm>
            <a:off x="76150" y="9211"/>
            <a:ext cx="2882025" cy="855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7" name="Google Shape;177;p27" title="slide-background-v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8" name="Google Shape;178;p27"/>
          <p:cNvSpPr txBox="1"/>
          <p:nvPr/>
        </p:nvSpPr>
        <p:spPr>
          <a:xfrm>
            <a:off x="4939175" y="150475"/>
            <a:ext cx="2646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dirty="0">
                <a:latin typeface="+mj-lt"/>
                <a:ea typeface="Roboto Black"/>
                <a:cs typeface="Roboto Black"/>
                <a:sym typeface="Roboto Black"/>
              </a:rPr>
              <a:t>Conclusion :</a:t>
            </a:r>
            <a:endParaRPr sz="1800" b="1" dirty="0">
              <a:solidFill>
                <a:srgbClr val="000000"/>
              </a:solidFill>
              <a:latin typeface="+mj-lt"/>
              <a:ea typeface="Roboto Black"/>
              <a:cs typeface="Roboto Black"/>
              <a:sym typeface="Roboto Black"/>
            </a:endParaRPr>
          </a:p>
        </p:txBody>
      </p:sp>
      <p:sp>
        <p:nvSpPr>
          <p:cNvPr id="179" name="Google Shape;179;p27"/>
          <p:cNvSpPr txBox="1"/>
          <p:nvPr/>
        </p:nvSpPr>
        <p:spPr>
          <a:xfrm>
            <a:off x="495400" y="1329600"/>
            <a:ext cx="7919700" cy="204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365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Char char="●"/>
            </a:pPr>
            <a:r>
              <a:rPr lang="en" sz="1800" dirty="0">
                <a:latin typeface="+mn-lt"/>
                <a:ea typeface="Roboto"/>
                <a:cs typeface="Roboto"/>
                <a:sym typeface="Roboto"/>
              </a:rPr>
              <a:t>Built a high-accuracy salary prediction model</a:t>
            </a:r>
            <a:endParaRPr sz="1800" dirty="0">
              <a:latin typeface="+mn-lt"/>
              <a:ea typeface="Roboto"/>
              <a:cs typeface="Roboto"/>
              <a:sym typeface="Roboto"/>
            </a:endParaRPr>
          </a:p>
          <a:p>
            <a:pPr marL="457200" lvl="0" indent="-3365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Char char="●"/>
            </a:pPr>
            <a:r>
              <a:rPr lang="en" sz="1800" dirty="0">
                <a:latin typeface="+mn-lt"/>
                <a:ea typeface="Roboto"/>
                <a:cs typeface="Roboto"/>
                <a:sym typeface="Roboto"/>
              </a:rPr>
              <a:t>Gradient Boosting provided the best performance</a:t>
            </a:r>
            <a:endParaRPr sz="1800" dirty="0">
              <a:latin typeface="+mn-lt"/>
              <a:ea typeface="Roboto"/>
              <a:cs typeface="Roboto"/>
              <a:sym typeface="Roboto"/>
            </a:endParaRPr>
          </a:p>
          <a:p>
            <a:pPr marL="457200" lvl="0" indent="-3365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Char char="●"/>
            </a:pPr>
            <a:r>
              <a:rPr lang="en" sz="1800" dirty="0">
                <a:latin typeface="+mn-lt"/>
                <a:ea typeface="Roboto"/>
                <a:cs typeface="Roboto"/>
                <a:sym typeface="Roboto"/>
              </a:rPr>
              <a:t>Experience is the most important factor affecting salary</a:t>
            </a:r>
            <a:endParaRPr sz="1800" dirty="0">
              <a:latin typeface="+mn-lt"/>
              <a:ea typeface="Roboto"/>
              <a:cs typeface="Roboto"/>
              <a:sym typeface="Roboto"/>
            </a:endParaRPr>
          </a:p>
          <a:p>
            <a:pPr marL="457200" lvl="0" indent="-3365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Char char="●"/>
            </a:pPr>
            <a:r>
              <a:rPr lang="en" sz="1800" dirty="0">
                <a:latin typeface="+mn-lt"/>
                <a:ea typeface="Roboto"/>
                <a:cs typeface="Roboto"/>
                <a:sym typeface="Roboto"/>
              </a:rPr>
              <a:t>Machine learning enables reliable salary estimation </a:t>
            </a:r>
            <a:endParaRPr sz="1800" dirty="0">
              <a:latin typeface="+mn-lt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80" name="Google Shape;180;p27"/>
          <p:cNvPicPr preferRelativeResize="0"/>
          <p:nvPr/>
        </p:nvPicPr>
        <p:blipFill rotWithShape="1">
          <a:blip r:embed="rId4">
            <a:alphaModFix/>
          </a:blip>
          <a:srcRect t="30619" b="30977"/>
          <a:stretch/>
        </p:blipFill>
        <p:spPr>
          <a:xfrm>
            <a:off x="76150" y="9211"/>
            <a:ext cx="2882025" cy="855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6">
          <a:extLst>
            <a:ext uri="{FF2B5EF4-FFF2-40B4-BE49-F238E27FC236}">
              <a16:creationId xmlns:a16="http://schemas.microsoft.com/office/drawing/2014/main" id="{78D5BE7B-996D-4B76-416D-6C566133CE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7" name="Google Shape;177;p27" title="slide-background-v2.png">
            <a:extLst>
              <a:ext uri="{FF2B5EF4-FFF2-40B4-BE49-F238E27FC236}">
                <a16:creationId xmlns:a16="http://schemas.microsoft.com/office/drawing/2014/main" id="{06A198B3-114A-C7C2-027A-AC209859CB96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8" name="Google Shape;178;p27">
            <a:extLst>
              <a:ext uri="{FF2B5EF4-FFF2-40B4-BE49-F238E27FC236}">
                <a16:creationId xmlns:a16="http://schemas.microsoft.com/office/drawing/2014/main" id="{44C6F454-4850-8091-6564-0300ED0A9DC0}"/>
              </a:ext>
            </a:extLst>
          </p:cNvPr>
          <p:cNvSpPr txBox="1"/>
          <p:nvPr/>
        </p:nvSpPr>
        <p:spPr>
          <a:xfrm>
            <a:off x="5035767" y="150486"/>
            <a:ext cx="2646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US" sz="2400" b="1" dirty="0">
                <a:latin typeface="+mj-lt"/>
                <a:ea typeface="Roboto Black"/>
                <a:cs typeface="Roboto Black"/>
                <a:sym typeface="Roboto Black"/>
              </a:rPr>
              <a:t>References</a:t>
            </a:r>
            <a:r>
              <a:rPr lang="en" sz="2400" b="1" dirty="0">
                <a:latin typeface="+mj-lt"/>
                <a:ea typeface="Roboto Black"/>
                <a:cs typeface="Roboto Black"/>
                <a:sym typeface="Roboto Black"/>
              </a:rPr>
              <a:t>:</a:t>
            </a:r>
            <a:endParaRPr sz="2400" b="1" dirty="0">
              <a:solidFill>
                <a:srgbClr val="000000"/>
              </a:solidFill>
              <a:latin typeface="+mj-lt"/>
              <a:ea typeface="Roboto Black"/>
              <a:cs typeface="Roboto Black"/>
              <a:sym typeface="Roboto Black"/>
            </a:endParaRPr>
          </a:p>
        </p:txBody>
      </p:sp>
      <p:sp>
        <p:nvSpPr>
          <p:cNvPr id="179" name="Google Shape;179;p27">
            <a:extLst>
              <a:ext uri="{FF2B5EF4-FFF2-40B4-BE49-F238E27FC236}">
                <a16:creationId xmlns:a16="http://schemas.microsoft.com/office/drawing/2014/main" id="{82429AD2-B4CA-1359-F3D6-2DCBD10EF4D4}"/>
              </a:ext>
            </a:extLst>
          </p:cNvPr>
          <p:cNvSpPr txBox="1"/>
          <p:nvPr/>
        </p:nvSpPr>
        <p:spPr>
          <a:xfrm>
            <a:off x="495400" y="1329599"/>
            <a:ext cx="7919700" cy="3152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200" dirty="0" err="1"/>
              <a:t>Matbouli</a:t>
            </a:r>
            <a:r>
              <a:rPr lang="en-US" sz="1200" dirty="0"/>
              <a:t>, Y.T., &amp; Alghamdi, S.M. (2022). Statistical machine learning regression models for salary prediction featuring economy-wide activities and occupations. </a:t>
            </a:r>
            <a:r>
              <a:rPr lang="en-US" sz="1200" i="1" dirty="0"/>
              <a:t>Information, 13</a:t>
            </a:r>
            <a:r>
              <a:rPr lang="en-US" sz="1200" dirty="0"/>
              <a:t>(10), 495. </a:t>
            </a:r>
            <a:r>
              <a:rPr lang="en-US" sz="1200" dirty="0">
                <a:hlinkClick r:id="rId4"/>
              </a:rPr>
              <a:t>https://doi.org/10.3390/info13100495</a:t>
            </a:r>
            <a:endParaRPr lang="en-US" sz="1200" dirty="0"/>
          </a:p>
          <a:p>
            <a:pPr marL="171450" lvl="0" indent="-171450">
              <a:buFont typeface="Arial" panose="020B0604020202020204" pitchFamily="34" charset="0"/>
              <a:buChar char="•"/>
            </a:pPr>
            <a:endParaRPr lang="en-US" sz="1200" dirty="0"/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200" dirty="0" err="1"/>
              <a:t>Gheriyani</a:t>
            </a:r>
            <a:r>
              <a:rPr lang="en-US" sz="1200" dirty="0"/>
              <a:t>, N.S., &amp; </a:t>
            </a:r>
            <a:r>
              <a:rPr lang="en-US" sz="1200" dirty="0" err="1"/>
              <a:t>Dbeea</a:t>
            </a:r>
            <a:r>
              <a:rPr lang="en-US" sz="1200" dirty="0"/>
              <a:t>, J.I. (2024). Salary prediction: Case study. </a:t>
            </a:r>
            <a:r>
              <a:rPr lang="en-US" sz="1200" i="1" dirty="0"/>
              <a:t>African Journal of Advanced Pure and Applied Sciences</a:t>
            </a:r>
            <a:r>
              <a:rPr lang="en-US" sz="1200" dirty="0"/>
              <a:t>, 1–13. </a:t>
            </a:r>
            <a:r>
              <a:rPr lang="en-US" sz="1200" dirty="0">
                <a:hlinkClick r:id="rId5"/>
              </a:rPr>
              <a:t>https://doi.org/10.65418/ajapas.vi.766</a:t>
            </a:r>
            <a:endParaRPr lang="en-US" sz="1200" dirty="0"/>
          </a:p>
          <a:p>
            <a:pPr marL="171450" lvl="0" indent="-171450">
              <a:buFont typeface="Arial" panose="020B0604020202020204" pitchFamily="34" charset="0"/>
              <a:buChar char="•"/>
            </a:pPr>
            <a:endParaRPr lang="en-US" sz="1200" dirty="0"/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200" dirty="0"/>
              <a:t>Raj, P., et al. (2025). Forecasting salary using a machine learning system. </a:t>
            </a:r>
            <a:r>
              <a:rPr lang="en-US" sz="1200" i="1" dirty="0"/>
              <a:t>Atlantis Press</a:t>
            </a:r>
            <a:r>
              <a:rPr lang="en-US" sz="1200" dirty="0"/>
              <a:t>. </a:t>
            </a:r>
            <a:r>
              <a:rPr lang="en-US" sz="1200" dirty="0">
                <a:hlinkClick r:id="rId6"/>
              </a:rPr>
              <a:t>https://doi.org/10.2991/978-94-6463-XXX-X</a:t>
            </a:r>
            <a:endParaRPr lang="en-US" sz="1200" dirty="0"/>
          </a:p>
          <a:p>
            <a:pPr marL="171450" lvl="0" indent="-171450">
              <a:buFont typeface="Arial" panose="020B0604020202020204" pitchFamily="34" charset="0"/>
              <a:buChar char="•"/>
            </a:pPr>
            <a:endParaRPr lang="en-US" sz="1200" dirty="0"/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200" dirty="0" err="1"/>
              <a:t>Ayua</a:t>
            </a:r>
            <a:r>
              <a:rPr lang="en-US" sz="1200" dirty="0"/>
              <a:t>, S.I. (2024). Salary prediction model for non-academic staff using polynomial regression technique. </a:t>
            </a:r>
            <a:r>
              <a:rPr lang="en-US" sz="1200" i="1" dirty="0"/>
              <a:t>Advances in Intelligent Applications</a:t>
            </a:r>
            <a:r>
              <a:rPr lang="en-US" sz="1200" dirty="0"/>
              <a:t>. </a:t>
            </a:r>
            <a:r>
              <a:rPr lang="en-US" sz="1200" dirty="0">
                <a:hlinkClick r:id="rId7"/>
              </a:rPr>
              <a:t>https://doi.org/10.47852/bonviewAIA795</a:t>
            </a:r>
            <a:endParaRPr lang="en-US" sz="1200" dirty="0"/>
          </a:p>
          <a:p>
            <a:pPr marL="171450" lvl="0" indent="-171450">
              <a:buFont typeface="Arial" panose="020B0604020202020204" pitchFamily="34" charset="0"/>
              <a:buChar char="•"/>
            </a:pPr>
            <a:endParaRPr lang="en-US" sz="1200" dirty="0"/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200" dirty="0" err="1"/>
              <a:t>Alsheyab</a:t>
            </a:r>
            <a:r>
              <a:rPr lang="en-US" sz="1200" dirty="0"/>
              <a:t>, A.R., </a:t>
            </a:r>
            <a:r>
              <a:rPr lang="en-US" sz="1200" dirty="0" err="1"/>
              <a:t>Alkhasawneh</a:t>
            </a:r>
            <a:r>
              <a:rPr lang="en-US" sz="1200" dirty="0"/>
              <a:t>, M., &amp; Shahin, N. (2025). Job market cheat codes: Prototyping salary prediction and job grouping with synthetic job listings. </a:t>
            </a:r>
            <a:r>
              <a:rPr lang="en-US" sz="1200" i="1" dirty="0" err="1"/>
              <a:t>arXiv</a:t>
            </a:r>
            <a:r>
              <a:rPr lang="en-US" sz="1200" dirty="0"/>
              <a:t>. </a:t>
            </a:r>
            <a:r>
              <a:rPr lang="en-US" sz="1200" dirty="0">
                <a:hlinkClick r:id="rId8"/>
              </a:rPr>
              <a:t>https://arxiv.org/abs/2506.15879</a:t>
            </a:r>
            <a:endParaRPr sz="1200" dirty="0"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80" name="Google Shape;180;p27">
            <a:extLst>
              <a:ext uri="{FF2B5EF4-FFF2-40B4-BE49-F238E27FC236}">
                <a16:creationId xmlns:a16="http://schemas.microsoft.com/office/drawing/2014/main" id="{D1F98D01-5DD8-4963-970E-6419A15CA8DA}"/>
              </a:ext>
            </a:extLst>
          </p:cNvPr>
          <p:cNvPicPr preferRelativeResize="0"/>
          <p:nvPr/>
        </p:nvPicPr>
        <p:blipFill rotWithShape="1">
          <a:blip r:embed="rId9">
            <a:alphaModFix/>
          </a:blip>
          <a:srcRect t="30619" b="30977"/>
          <a:stretch/>
        </p:blipFill>
        <p:spPr>
          <a:xfrm>
            <a:off x="76150" y="9211"/>
            <a:ext cx="2882025" cy="85525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784044792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80</TotalTime>
  <Words>887</Words>
  <Application>Microsoft Office PowerPoint</Application>
  <PresentationFormat>On-screen Show (16:9)</PresentationFormat>
  <Paragraphs>129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Roboto</vt:lpstr>
      <vt:lpstr>Arial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Raja Vamshi Goud Amaragoni</cp:lastModifiedBy>
  <cp:revision>5</cp:revision>
  <dcterms:modified xsi:type="dcterms:W3CDTF">2026-04-10T22:47:18Z</dcterms:modified>
</cp:coreProperties>
</file>