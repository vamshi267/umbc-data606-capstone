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7"/>
  </p:normalViewPr>
  <p:slideViewPr>
    <p:cSldViewPr snapToGrid="0">
      <p:cViewPr varScale="1">
        <p:scale>
          <a:sx n="147" d="100"/>
          <a:sy n="147" d="100"/>
        </p:scale>
        <p:origin x="664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0d85ed143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90d85ed143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47708cf84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47708cf84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47708cf84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47708cf84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47708cf84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47708cf84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47708cf84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47708cf84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47708cf8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47708cf8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47708cf8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47708cf84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47708cf84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47708cf84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0d85ed143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0d85ed143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47708cf84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47708cf84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47708cf84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47708cf84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47708cf84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47708cf84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47708cf84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d47708cf84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47708cf84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47708cf84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126E0EFD-DB5B-45DF-4A74-AD83E20E7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47708cf84_0_86:notes">
            <a:extLst>
              <a:ext uri="{FF2B5EF4-FFF2-40B4-BE49-F238E27FC236}">
                <a16:creationId xmlns:a16="http://schemas.microsoft.com/office/drawing/2014/main" id="{AF86AB72-6D1D-A721-0785-528B0BF5E0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47708cf84_0_86:notes">
            <a:extLst>
              <a:ext uri="{FF2B5EF4-FFF2-40B4-BE49-F238E27FC236}">
                <a16:creationId xmlns:a16="http://schemas.microsoft.com/office/drawing/2014/main" id="{9D2F0844-34E1-6111-E9D8-72D78EEE28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4799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506.15879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doi.org/10.47852/bonviewAIA795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2991/978-94-6463-XXX-X" TargetMode="External"/><Relationship Id="rId5" Type="http://schemas.openxmlformats.org/officeDocument/2006/relationships/hyperlink" Target="https://doi.org/10.65418/ajapas.vi.766" TargetMode="External"/><Relationship Id="rId4" Type="http://schemas.openxmlformats.org/officeDocument/2006/relationships/hyperlink" Target="https://doi.org/10.3390/info13100495" TargetMode="Externa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 rotWithShape="1">
          <a:blip r:embed="rId4">
            <a:alphaModFix/>
          </a:blip>
          <a:srcRect t="30619" b="30977"/>
          <a:stretch/>
        </p:blipFill>
        <p:spPr>
          <a:xfrm>
            <a:off x="29900" y="1971804"/>
            <a:ext cx="3406871" cy="10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175050" y="1499950"/>
            <a:ext cx="4574400" cy="15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 dirty="0">
                <a:latin typeface="Roboto"/>
                <a:ea typeface="Roboto"/>
                <a:cs typeface="Roboto"/>
                <a:sym typeface="Roboto"/>
              </a:rPr>
              <a:t>Global AI &amp; Data Science Salary Prediction Using Machine Learning</a:t>
            </a:r>
            <a:endParaRPr sz="2400" b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880250" y="3762575"/>
            <a:ext cx="2869200" cy="77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Roboto"/>
                <a:ea typeface="Roboto"/>
                <a:cs typeface="Roboto"/>
                <a:sym typeface="Roboto"/>
              </a:rPr>
              <a:t>Author : Raja Vamshi Goud Amaragoni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Roboto"/>
                <a:ea typeface="Roboto"/>
                <a:cs typeface="Roboto"/>
                <a:sym typeface="Roboto"/>
              </a:rPr>
              <a:t>Professor : Dr. Chaojie Wang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Roboto"/>
                <a:ea typeface="Roboto"/>
                <a:cs typeface="Roboto"/>
                <a:sym typeface="Roboto"/>
              </a:rPr>
              <a:t>Semester : Spring-2026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slide-background-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4855610" y="227263"/>
            <a:ext cx="309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+mj-lt"/>
                <a:ea typeface="Roboto Black"/>
                <a:cs typeface="Roboto Black"/>
                <a:sym typeface="Roboto Black"/>
              </a:rPr>
              <a:t>Problem Statement :</a:t>
            </a:r>
            <a:endParaRPr sz="1800" b="1" dirty="0">
              <a:solidFill>
                <a:srgbClr val="000000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274975" y="1088400"/>
            <a:ext cx="4732500" cy="3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Salary estimation in AI and Data Science roles depends on multiple factors such as experience, job role, location, and company type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Traditional estimation methods are inconsistent and subjective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Lack of standardized and data-driven salary benchmarking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Need for a predictive model that provides accurate and scalable salary estimation 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4">
            <a:alphaModFix/>
          </a:blip>
          <a:srcRect t="30619" b="30977"/>
          <a:stretch/>
        </p:blipFill>
        <p:spPr>
          <a:xfrm>
            <a:off x="76150" y="9211"/>
            <a:ext cx="2882025" cy="85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 rotWithShape="1">
          <a:blip r:embed="rId5">
            <a:alphaModFix/>
          </a:blip>
          <a:srcRect l="7191" t="14897" r="9001" b="10281"/>
          <a:stretch/>
        </p:blipFill>
        <p:spPr>
          <a:xfrm>
            <a:off x="5007475" y="1529250"/>
            <a:ext cx="3936276" cy="3039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 title="slide-background-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4864085" y="227263"/>
            <a:ext cx="309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+mj-lt"/>
                <a:ea typeface="Roboto Black"/>
                <a:cs typeface="Roboto Black"/>
                <a:sym typeface="Roboto Black"/>
              </a:rPr>
              <a:t>Project Objectives:</a:t>
            </a:r>
            <a:endParaRPr sz="1800" b="1" dirty="0">
              <a:solidFill>
                <a:srgbClr val="000000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532150" y="1273975"/>
            <a:ext cx="3492600" cy="26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Analyze global salary data for AI and Data Science roles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Build machine learning models to predict salary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Compare different regression models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Identify the most accurate and reliable model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 rotWithShape="1">
          <a:blip r:embed="rId4">
            <a:alphaModFix/>
          </a:blip>
          <a:srcRect t="30619" b="30977"/>
          <a:stretch/>
        </p:blipFill>
        <p:spPr>
          <a:xfrm>
            <a:off x="76150" y="9211"/>
            <a:ext cx="2882025" cy="85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 rotWithShape="1">
          <a:blip r:embed="rId5">
            <a:alphaModFix/>
          </a:blip>
          <a:srcRect l="10763" t="14590" r="7331" b="13679"/>
          <a:stretch/>
        </p:blipFill>
        <p:spPr>
          <a:xfrm>
            <a:off x="4236025" y="1317125"/>
            <a:ext cx="4684274" cy="3113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6" title="slide-background-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4873260" y="227263"/>
            <a:ext cx="309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+mj-lt"/>
                <a:ea typeface="Roboto Black"/>
                <a:cs typeface="Roboto Black"/>
                <a:sym typeface="Roboto Black"/>
              </a:rPr>
              <a:t>Dataset Overview :</a:t>
            </a:r>
            <a:endParaRPr sz="1800" b="1" dirty="0">
              <a:solidFill>
                <a:srgbClr val="000000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550500" y="1182100"/>
            <a:ext cx="3878400" cy="36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Dataset contains 50,000 job records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Includes 14 features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Covers global AI and Data Science job roles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</a:rPr>
              <a:t>Key attributes:</a:t>
            </a:r>
            <a:endParaRPr sz="1700" b="1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Job title, experience level, location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Company type and work type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Salary range (min and max)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 rotWithShape="1">
          <a:blip r:embed="rId4">
            <a:alphaModFix/>
          </a:blip>
          <a:srcRect t="30619" b="30977"/>
          <a:stretch/>
        </p:blipFill>
        <p:spPr>
          <a:xfrm>
            <a:off x="76150" y="9211"/>
            <a:ext cx="2882025" cy="85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28900" y="1088578"/>
            <a:ext cx="4392900" cy="3798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7" title="slide-background-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/>
        </p:nvSpPr>
        <p:spPr>
          <a:xfrm>
            <a:off x="4864800" y="98583"/>
            <a:ext cx="3091800" cy="6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+mj-lt"/>
                <a:ea typeface="Roboto Black"/>
                <a:cs typeface="Roboto Black"/>
                <a:sym typeface="Roboto Black"/>
              </a:rPr>
              <a:t>Data Quality &amp; Target Variable :</a:t>
            </a:r>
            <a:endParaRPr sz="1800" b="1" dirty="0">
              <a:solidFill>
                <a:srgbClr val="000000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626400" y="1153100"/>
            <a:ext cx="7035600" cy="26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No missing values found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No duplicate records detected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Dataset is clean and consistent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</a:rPr>
              <a:t>Target Variable:</a:t>
            </a:r>
            <a:endParaRPr sz="1700" b="1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salary_avg_usd = (salary_min_usd + salary_max_usd) / 2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Converts salary range into a single value for prediction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2" name="Google Shape;92;p17"/>
          <p:cNvPicPr preferRelativeResize="0"/>
          <p:nvPr/>
        </p:nvPicPr>
        <p:blipFill rotWithShape="1">
          <a:blip r:embed="rId4">
            <a:alphaModFix/>
          </a:blip>
          <a:srcRect t="30619" b="30977"/>
          <a:stretch/>
        </p:blipFill>
        <p:spPr>
          <a:xfrm>
            <a:off x="76150" y="9211"/>
            <a:ext cx="2882025" cy="85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8" title="slide-background-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4855600" y="120036"/>
            <a:ext cx="3091800" cy="6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+mj-lt"/>
                <a:ea typeface="Roboto Black"/>
                <a:cs typeface="Roboto Black"/>
                <a:sym typeface="Roboto Black"/>
              </a:rPr>
              <a:t>Feature Engineering &amp; Data Preparation:</a:t>
            </a:r>
            <a:endParaRPr sz="1800" b="1" dirty="0">
              <a:solidFill>
                <a:srgbClr val="000000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311800" y="1319400"/>
            <a:ext cx="4543800" cy="3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Selected relevant features for prediction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Converted categorical variables using one-hot encoding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Prepared dataset for machine learning models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Train-test split: 80% training / 20% testing</a:t>
            </a:r>
            <a:endParaRPr sz="1700">
              <a:solidFill>
                <a:schemeClr val="dk1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lphaLcPeriod"/>
            </a:pPr>
            <a:r>
              <a:rPr lang="en" sz="1700">
                <a:solidFill>
                  <a:schemeClr val="dk1"/>
                </a:solidFill>
              </a:rPr>
              <a:t>Training: 40,000 records</a:t>
            </a:r>
            <a:endParaRPr sz="1700">
              <a:solidFill>
                <a:schemeClr val="dk1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lphaLcPeriod"/>
            </a:pPr>
            <a:r>
              <a:rPr lang="en" sz="1700">
                <a:solidFill>
                  <a:schemeClr val="dk1"/>
                </a:solidFill>
              </a:rPr>
              <a:t>Testing: 10,000 records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Plotted graphs that shows the key relations between features.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0" name="Google Shape;100;p18"/>
          <p:cNvPicPr preferRelativeResize="0"/>
          <p:nvPr/>
        </p:nvPicPr>
        <p:blipFill rotWithShape="1">
          <a:blip r:embed="rId4">
            <a:alphaModFix/>
          </a:blip>
          <a:srcRect t="30619" b="30977"/>
          <a:stretch/>
        </p:blipFill>
        <p:spPr>
          <a:xfrm>
            <a:off x="76150" y="9211"/>
            <a:ext cx="2882025" cy="85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88349" y="1187575"/>
            <a:ext cx="3725699" cy="175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88342" y="3080574"/>
            <a:ext cx="3531981" cy="175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9" title="slide-background-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 txBox="1"/>
          <p:nvPr/>
        </p:nvSpPr>
        <p:spPr>
          <a:xfrm>
            <a:off x="4907491" y="235025"/>
            <a:ext cx="309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+mj-lt"/>
                <a:ea typeface="Roboto Black"/>
                <a:cs typeface="Roboto Black"/>
                <a:sym typeface="Roboto Black"/>
              </a:rPr>
              <a:t>Models Implemented :</a:t>
            </a:r>
            <a:endParaRPr sz="1800" b="1" dirty="0">
              <a:solidFill>
                <a:srgbClr val="000000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395550" y="1197175"/>
            <a:ext cx="8352900" cy="37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dirty="0">
                <a:solidFill>
                  <a:schemeClr val="dk1"/>
                </a:solidFill>
              </a:rPr>
              <a:t>Linear Regression</a:t>
            </a:r>
            <a:endParaRPr sz="1600" b="1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dirty="0">
                <a:solidFill>
                  <a:schemeClr val="dk1"/>
                </a:solidFill>
              </a:rPr>
              <a:t>Baseline model for predicting continuous values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dirty="0">
                <a:solidFill>
                  <a:schemeClr val="dk1"/>
                </a:solidFill>
              </a:rPr>
              <a:t>Assumes a linear relationship between input features and salary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dirty="0">
                <a:solidFill>
                  <a:schemeClr val="dk1"/>
                </a:solidFill>
              </a:rPr>
              <a:t>Simple, fast, and easy to interpret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dirty="0">
                <a:solidFill>
                  <a:schemeClr val="dk1"/>
                </a:solidFill>
              </a:rPr>
              <a:t>Random Forest Regressor</a:t>
            </a:r>
            <a:endParaRPr sz="1600" b="1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dirty="0">
                <a:solidFill>
                  <a:schemeClr val="dk1"/>
                </a:solidFill>
              </a:rPr>
              <a:t>Ensemble model using multiple decision trees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dirty="0">
                <a:solidFill>
                  <a:schemeClr val="dk1"/>
                </a:solidFill>
              </a:rPr>
              <a:t>Reduces overfitting by averaging predictions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dirty="0">
                <a:solidFill>
                  <a:schemeClr val="dk1"/>
                </a:solidFill>
              </a:rPr>
              <a:t>Captures non-linear relationships in the data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dirty="0">
                <a:solidFill>
                  <a:schemeClr val="dk1"/>
                </a:solidFill>
              </a:rPr>
              <a:t>Gradient Boosting Regressor</a:t>
            </a:r>
            <a:endParaRPr sz="1600" b="1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dirty="0">
                <a:solidFill>
                  <a:schemeClr val="dk1"/>
                </a:solidFill>
              </a:rPr>
              <a:t>Sequential ensemble method that improves errors step-by-step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dirty="0">
                <a:solidFill>
                  <a:schemeClr val="dk1"/>
                </a:solidFill>
              </a:rPr>
              <a:t>Each new model corrects the mistakes of the previous one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dirty="0">
                <a:solidFill>
                  <a:schemeClr val="dk1"/>
                </a:solidFill>
              </a:rPr>
              <a:t>Highly effective for structured/tabular datasets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0" name="Google Shape;110;p19"/>
          <p:cNvPicPr preferRelativeResize="0"/>
          <p:nvPr/>
        </p:nvPicPr>
        <p:blipFill rotWithShape="1">
          <a:blip r:embed="rId4">
            <a:alphaModFix/>
          </a:blip>
          <a:srcRect t="30619" b="30977"/>
          <a:stretch/>
        </p:blipFill>
        <p:spPr>
          <a:xfrm>
            <a:off x="76150" y="9211"/>
            <a:ext cx="2882025" cy="85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0" title="slide-background-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 txBox="1"/>
          <p:nvPr/>
        </p:nvSpPr>
        <p:spPr>
          <a:xfrm>
            <a:off x="4892849" y="214058"/>
            <a:ext cx="3091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latin typeface="+mj-lt"/>
                <a:ea typeface="Roboto Black" panose="02000000000000000000" pitchFamily="2" charset="0"/>
                <a:cs typeface="Roboto Black" panose="02000000000000000000" pitchFamily="2" charset="0"/>
              </a:rPr>
              <a:t>Evaluation Metrics:</a:t>
            </a:r>
            <a:endParaRPr sz="1800" b="1" dirty="0">
              <a:latin typeface="+mj-lt"/>
              <a:ea typeface="Roboto Black" panose="02000000000000000000" pitchFamily="2" charset="0"/>
              <a:cs typeface="Roboto Black" panose="02000000000000000000" pitchFamily="2" charset="0"/>
              <a:sym typeface="Roboto"/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314125" y="1090350"/>
            <a:ext cx="4362900" cy="3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Mean Absolute Error (MAE):</a:t>
            </a:r>
            <a:endParaRPr sz="1300" b="1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Measures the average difference between predicted and actual salary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Easy to interpret (in USD)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Lower MAE indicates better accuracy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Root Mean Squared Error (RMSE):</a:t>
            </a:r>
            <a:endParaRPr sz="1300" b="1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Measures the square root of average squared errors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Penalizes large prediction errors more than MAE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Useful for identifying models with large deviations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R² Score (Coefficient of Determination):</a:t>
            </a:r>
            <a:endParaRPr sz="1300" b="1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Indicates how well the model explains variance in salary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Value ranges from 0 to 1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Closer to 1 means better model performance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8" name="Google Shape;118;p20"/>
          <p:cNvPicPr preferRelativeResize="0"/>
          <p:nvPr/>
        </p:nvPicPr>
        <p:blipFill rotWithShape="1">
          <a:blip r:embed="rId4">
            <a:alphaModFix/>
          </a:blip>
          <a:srcRect t="30619" b="30977"/>
          <a:stretch/>
        </p:blipFill>
        <p:spPr>
          <a:xfrm>
            <a:off x="76150" y="9211"/>
            <a:ext cx="2882025" cy="85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7025" y="1310050"/>
            <a:ext cx="4266476" cy="2947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1" title="slide-background-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1"/>
          <p:cNvSpPr txBox="1"/>
          <p:nvPr/>
        </p:nvSpPr>
        <p:spPr>
          <a:xfrm>
            <a:off x="4855610" y="80012"/>
            <a:ext cx="3091800" cy="713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+mj-lt"/>
                <a:ea typeface="Roboto Black"/>
                <a:cs typeface="Roboto Black"/>
                <a:sym typeface="Roboto Black"/>
              </a:rPr>
              <a:t>Model Performance Comparison :</a:t>
            </a:r>
            <a:endParaRPr sz="1800" b="1" dirty="0">
              <a:solidFill>
                <a:srgbClr val="000000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21"/>
          <p:cNvSpPr txBox="1"/>
          <p:nvPr/>
        </p:nvSpPr>
        <p:spPr>
          <a:xfrm>
            <a:off x="540975" y="1545125"/>
            <a:ext cx="3731700" cy="12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Linear Regression and Gradient Boosting performed best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Random Forest showed slightly lower performance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7" name="Google Shape;127;p21"/>
          <p:cNvPicPr preferRelativeResize="0"/>
          <p:nvPr/>
        </p:nvPicPr>
        <p:blipFill rotWithShape="1">
          <a:blip r:embed="rId4">
            <a:alphaModFix/>
          </a:blip>
          <a:srcRect t="30619" b="30977"/>
          <a:stretch/>
        </p:blipFill>
        <p:spPr>
          <a:xfrm>
            <a:off x="76150" y="9211"/>
            <a:ext cx="2882025" cy="85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1545125"/>
            <a:ext cx="4199876" cy="158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2" title="slide-background-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2"/>
          <p:cNvSpPr txBox="1"/>
          <p:nvPr/>
        </p:nvSpPr>
        <p:spPr>
          <a:xfrm>
            <a:off x="4888400" y="150475"/>
            <a:ext cx="3031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+mj-lt"/>
                <a:ea typeface="Roboto Black"/>
                <a:cs typeface="Roboto Black"/>
                <a:sym typeface="Roboto Black"/>
              </a:rPr>
              <a:t>Model Selection :</a:t>
            </a:r>
            <a:endParaRPr sz="1800" b="1" dirty="0">
              <a:solidFill>
                <a:srgbClr val="000000"/>
              </a:solidFill>
              <a:latin typeface="+mj-lt"/>
              <a:ea typeface="Roboto Black"/>
              <a:cs typeface="Roboto Black"/>
              <a:sym typeface="Roboto Black"/>
            </a:endParaRPr>
          </a:p>
        </p:txBody>
      </p:sp>
      <p:sp>
        <p:nvSpPr>
          <p:cNvPr id="135" name="Google Shape;135;p22"/>
          <p:cNvSpPr txBox="1"/>
          <p:nvPr/>
        </p:nvSpPr>
        <p:spPr>
          <a:xfrm>
            <a:off x="467875" y="1113150"/>
            <a:ext cx="3759000" cy="38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Based on comparison of MAE, RMSE, and R² scores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Linear Regression and Gradient Boosting showed highest accuracy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Random Forest performed slightly lower in comparison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Gradient Boosting selected because:</a:t>
            </a:r>
            <a:endParaRPr sz="1300">
              <a:solidFill>
                <a:schemeClr val="dk1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lphaLcPeriod"/>
            </a:pPr>
            <a:r>
              <a:rPr lang="en" sz="1300">
                <a:solidFill>
                  <a:schemeClr val="dk1"/>
                </a:solidFill>
              </a:rPr>
              <a:t>Captures complex feature interactions</a:t>
            </a:r>
            <a:endParaRPr sz="1300">
              <a:solidFill>
                <a:schemeClr val="dk1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lphaLcPeriod"/>
            </a:pPr>
            <a:r>
              <a:rPr lang="en" sz="1300">
                <a:solidFill>
                  <a:schemeClr val="dk1"/>
                </a:solidFill>
              </a:rPr>
              <a:t>Handles non-linear relationships effectively</a:t>
            </a:r>
            <a:endParaRPr sz="1300">
              <a:solidFill>
                <a:schemeClr val="dk1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lphaLcPeriod"/>
            </a:pPr>
            <a:r>
              <a:rPr lang="en" sz="1300">
                <a:solidFill>
                  <a:schemeClr val="dk1"/>
                </a:solidFill>
              </a:rPr>
              <a:t>Provides stable and consistent performance</a:t>
            </a:r>
            <a:endParaRPr sz="1300">
              <a:solidFill>
                <a:schemeClr val="dk1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lphaLcPeriod"/>
            </a:pPr>
            <a:r>
              <a:rPr lang="en" sz="1300">
                <a:solidFill>
                  <a:schemeClr val="dk1"/>
                </a:solidFill>
              </a:rPr>
              <a:t>Performs well on large structured datasets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Selected model used for further optimization and testing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6" name="Google Shape;136;p22"/>
          <p:cNvPicPr preferRelativeResize="0"/>
          <p:nvPr/>
        </p:nvPicPr>
        <p:blipFill rotWithShape="1">
          <a:blip r:embed="rId4">
            <a:alphaModFix/>
          </a:blip>
          <a:srcRect t="30619" b="30977"/>
          <a:stretch/>
        </p:blipFill>
        <p:spPr>
          <a:xfrm>
            <a:off x="76150" y="9211"/>
            <a:ext cx="2882025" cy="85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6875" y="2059200"/>
            <a:ext cx="476250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3" title="slide-background-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3"/>
          <p:cNvSpPr txBox="1"/>
          <p:nvPr/>
        </p:nvSpPr>
        <p:spPr>
          <a:xfrm>
            <a:off x="4846100" y="150475"/>
            <a:ext cx="3801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+mj-lt"/>
                <a:ea typeface="Roboto Black"/>
                <a:cs typeface="Roboto Black"/>
                <a:sym typeface="Roboto Black"/>
              </a:rPr>
              <a:t>Hyperparameter Tuning &amp; Residual Analysis:</a:t>
            </a:r>
            <a:endParaRPr sz="1800" b="1" dirty="0">
              <a:solidFill>
                <a:srgbClr val="000000"/>
              </a:solidFill>
              <a:latin typeface="+mj-lt"/>
              <a:ea typeface="Roboto Black"/>
              <a:cs typeface="Roboto Black"/>
              <a:sym typeface="Roboto Black"/>
            </a:endParaRPr>
          </a:p>
        </p:txBody>
      </p:sp>
      <p:sp>
        <p:nvSpPr>
          <p:cNvPr id="144" name="Google Shape;144;p23"/>
          <p:cNvSpPr txBox="1"/>
          <p:nvPr/>
        </p:nvSpPr>
        <p:spPr>
          <a:xfrm>
            <a:off x="440300" y="1185800"/>
            <a:ext cx="3060900" cy="33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Performed using </a:t>
            </a:r>
            <a:r>
              <a:rPr lang="en" b="1">
                <a:solidFill>
                  <a:schemeClr val="dk1"/>
                </a:solidFill>
              </a:rPr>
              <a:t>GridSearchCV</a:t>
            </a:r>
            <a:endParaRPr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Best parameters: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n_estimators = 200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learning_rate = 0.05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max_depth = 3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Optimized Results:</a:t>
            </a:r>
            <a:endParaRPr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MAE: 3522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RMSE: 4222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R²: 0.9869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Minimal improvement → model already near optimal 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5" name="Google Shape;145;p23"/>
          <p:cNvPicPr preferRelativeResize="0"/>
          <p:nvPr/>
        </p:nvPicPr>
        <p:blipFill rotWithShape="1">
          <a:blip r:embed="rId4">
            <a:alphaModFix/>
          </a:blip>
          <a:srcRect t="30619" b="30977"/>
          <a:stretch/>
        </p:blipFill>
        <p:spPr>
          <a:xfrm>
            <a:off x="76150" y="9211"/>
            <a:ext cx="2882025" cy="85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01200" y="1286825"/>
            <a:ext cx="5541726" cy="298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4" title="slide-background-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4"/>
          <p:cNvSpPr txBox="1"/>
          <p:nvPr/>
        </p:nvSpPr>
        <p:spPr>
          <a:xfrm>
            <a:off x="4964550" y="150475"/>
            <a:ext cx="3387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+mj-lt"/>
                <a:ea typeface="Roboto Black"/>
                <a:cs typeface="Roboto Black"/>
                <a:sym typeface="Roboto Black"/>
              </a:rPr>
              <a:t>Test Case Predictions (Example 1)</a:t>
            </a:r>
            <a:endParaRPr sz="1800" b="1" dirty="0">
              <a:solidFill>
                <a:srgbClr val="000000"/>
              </a:solidFill>
              <a:latin typeface="+mj-lt"/>
              <a:ea typeface="Roboto Black"/>
              <a:cs typeface="Roboto Black"/>
              <a:sym typeface="Roboto Black"/>
            </a:endParaRPr>
          </a:p>
        </p:txBody>
      </p:sp>
      <p:sp>
        <p:nvSpPr>
          <p:cNvPr id="153" name="Google Shape;153;p24"/>
          <p:cNvSpPr txBox="1"/>
          <p:nvPr/>
        </p:nvSpPr>
        <p:spPr>
          <a:xfrm>
            <a:off x="458675" y="1125900"/>
            <a:ext cx="2646600" cy="35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dirty="0">
                <a:solidFill>
                  <a:schemeClr val="dk1"/>
                </a:solidFill>
              </a:rPr>
              <a:t>Input:</a:t>
            </a:r>
            <a:endParaRPr sz="1600" b="1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dirty="0">
                <a:solidFill>
                  <a:schemeClr val="dk1"/>
                </a:solidFill>
              </a:rPr>
              <a:t>Job Title: Data Scientist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dirty="0">
                <a:solidFill>
                  <a:schemeClr val="dk1"/>
                </a:solidFill>
              </a:rPr>
              <a:t>Experience Level: Mid-level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dirty="0">
                <a:solidFill>
                  <a:schemeClr val="dk1"/>
                </a:solidFill>
              </a:rPr>
              <a:t>Experience: 3 years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dirty="0">
                <a:solidFill>
                  <a:schemeClr val="dk1"/>
                </a:solidFill>
              </a:rPr>
              <a:t>Location: USA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dirty="0">
                <a:solidFill>
                  <a:schemeClr val="dk1"/>
                </a:solidFill>
              </a:rPr>
              <a:t>Remote Type: Hybrid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dirty="0">
                <a:solidFill>
                  <a:schemeClr val="dk1"/>
                </a:solidFill>
              </a:rPr>
              <a:t>Company Type: Medium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dirty="0">
                <a:solidFill>
                  <a:schemeClr val="dk1"/>
                </a:solidFill>
              </a:rPr>
              <a:t>Prediction Result:</a:t>
            </a:r>
            <a:endParaRPr sz="1600" b="1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dirty="0">
                <a:solidFill>
                  <a:schemeClr val="dk1"/>
                </a:solidFill>
              </a:rPr>
              <a:t>Predicted Salary: ~$107,552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4" name="Google Shape;154;p24"/>
          <p:cNvPicPr preferRelativeResize="0"/>
          <p:nvPr/>
        </p:nvPicPr>
        <p:blipFill rotWithShape="1">
          <a:blip r:embed="rId4">
            <a:alphaModFix/>
          </a:blip>
          <a:srcRect t="30619" b="30977"/>
          <a:stretch/>
        </p:blipFill>
        <p:spPr>
          <a:xfrm>
            <a:off x="76150" y="9211"/>
            <a:ext cx="2882025" cy="85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432AA56-BB9A-5AC9-A209-76D937D1F2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9773" y="1455038"/>
            <a:ext cx="5597908" cy="312984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5" title="slide-background-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5"/>
          <p:cNvSpPr txBox="1"/>
          <p:nvPr/>
        </p:nvSpPr>
        <p:spPr>
          <a:xfrm>
            <a:off x="4964550" y="150475"/>
            <a:ext cx="3387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+mj-lt"/>
                <a:ea typeface="Roboto Black"/>
                <a:cs typeface="Roboto Black"/>
                <a:sym typeface="Roboto Black"/>
              </a:rPr>
              <a:t>Test Case Predictions (Example 2)</a:t>
            </a:r>
            <a:endParaRPr sz="1800" b="1" dirty="0">
              <a:solidFill>
                <a:srgbClr val="000000"/>
              </a:solidFill>
              <a:latin typeface="+mj-lt"/>
              <a:ea typeface="Roboto Black"/>
              <a:cs typeface="Roboto Black"/>
              <a:sym typeface="Roboto Black"/>
            </a:endParaRPr>
          </a:p>
        </p:txBody>
      </p:sp>
      <p:sp>
        <p:nvSpPr>
          <p:cNvPr id="162" name="Google Shape;162;p25"/>
          <p:cNvSpPr txBox="1"/>
          <p:nvPr/>
        </p:nvSpPr>
        <p:spPr>
          <a:xfrm>
            <a:off x="431125" y="1160425"/>
            <a:ext cx="2882100" cy="36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</a:rPr>
              <a:t>Input:</a:t>
            </a:r>
            <a:endParaRPr sz="1600" b="1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dirty="0">
                <a:solidFill>
                  <a:schemeClr val="dk1"/>
                </a:solidFill>
              </a:rPr>
              <a:t>Job Title: Machine Learning Engineer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dirty="0">
                <a:solidFill>
                  <a:schemeClr val="dk1"/>
                </a:solidFill>
              </a:rPr>
              <a:t>Experience Level: Senior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dirty="0">
                <a:solidFill>
                  <a:schemeClr val="dk1"/>
                </a:solidFill>
              </a:rPr>
              <a:t>Experience: 7 years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dirty="0">
                <a:solidFill>
                  <a:schemeClr val="dk1"/>
                </a:solidFill>
              </a:rPr>
              <a:t>Location: USA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dirty="0">
                <a:solidFill>
                  <a:schemeClr val="dk1"/>
                </a:solidFill>
              </a:rPr>
              <a:t>Remote Type: Remote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dirty="0">
                <a:solidFill>
                  <a:schemeClr val="dk1"/>
                </a:solidFill>
              </a:rPr>
              <a:t>Company Type: Large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</a:rPr>
              <a:t>Prediction Result:</a:t>
            </a:r>
            <a:endParaRPr sz="1600" b="1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dirty="0">
                <a:solidFill>
                  <a:schemeClr val="dk1"/>
                </a:solidFill>
              </a:rPr>
              <a:t>Predicted Salary: ~$157,471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" name="Google Shape;163;p25"/>
          <p:cNvPicPr preferRelativeResize="0"/>
          <p:nvPr/>
        </p:nvPicPr>
        <p:blipFill rotWithShape="1">
          <a:blip r:embed="rId4">
            <a:alphaModFix/>
          </a:blip>
          <a:srcRect t="30619" b="30977"/>
          <a:stretch/>
        </p:blipFill>
        <p:spPr>
          <a:xfrm>
            <a:off x="76150" y="9211"/>
            <a:ext cx="2882025" cy="85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A3D4C4-8705-C71D-DAD6-0512FFBAC4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3225" y="1367427"/>
            <a:ext cx="5652943" cy="32132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6" title="slide-background-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6"/>
          <p:cNvSpPr txBox="1"/>
          <p:nvPr/>
        </p:nvSpPr>
        <p:spPr>
          <a:xfrm>
            <a:off x="4913775" y="150475"/>
            <a:ext cx="3268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+mj-lt"/>
                <a:ea typeface="Roboto Black"/>
                <a:cs typeface="Roboto Black"/>
                <a:sym typeface="Roboto Black"/>
              </a:rPr>
              <a:t>Future Improvements:</a:t>
            </a:r>
            <a:endParaRPr sz="1800" b="1" dirty="0">
              <a:solidFill>
                <a:srgbClr val="000000"/>
              </a:solidFill>
              <a:latin typeface="+mj-lt"/>
              <a:ea typeface="Roboto Black"/>
              <a:cs typeface="Roboto Black"/>
              <a:sym typeface="Roboto Black"/>
            </a:endParaRPr>
          </a:p>
        </p:txBody>
      </p:sp>
      <p:sp>
        <p:nvSpPr>
          <p:cNvPr id="171" name="Google Shape;171;p26"/>
          <p:cNvSpPr txBox="1"/>
          <p:nvPr/>
        </p:nvSpPr>
        <p:spPr>
          <a:xfrm>
            <a:off x="311700" y="1179275"/>
            <a:ext cx="8520600" cy="24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700" dirty="0">
                <a:latin typeface="+mn-lt"/>
                <a:ea typeface="Roboto"/>
                <a:cs typeface="Roboto"/>
                <a:sym typeface="Roboto"/>
              </a:rPr>
              <a:t>Include more features such as skills and company size</a:t>
            </a:r>
            <a:endParaRPr sz="1700" dirty="0">
              <a:latin typeface="+mn-lt"/>
              <a:ea typeface="Roboto"/>
              <a:cs typeface="Roboto"/>
              <a:sym typeface="Roboto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700" dirty="0">
                <a:latin typeface="+mn-lt"/>
                <a:ea typeface="Roboto"/>
                <a:cs typeface="Roboto"/>
                <a:sym typeface="Roboto"/>
              </a:rPr>
              <a:t>Use advanced models like XGBoost or LightGBM</a:t>
            </a:r>
            <a:endParaRPr sz="1700" dirty="0">
              <a:latin typeface="+mn-lt"/>
              <a:ea typeface="Roboto"/>
              <a:cs typeface="Roboto"/>
              <a:sym typeface="Roboto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700" dirty="0">
                <a:latin typeface="+mn-lt"/>
                <a:ea typeface="Roboto"/>
                <a:cs typeface="Roboto"/>
                <a:sym typeface="Roboto"/>
              </a:rPr>
              <a:t>Apply cross-validation for better generalization</a:t>
            </a:r>
            <a:endParaRPr sz="1700" dirty="0">
              <a:latin typeface="+mn-lt"/>
              <a:ea typeface="Roboto"/>
              <a:cs typeface="Roboto"/>
              <a:sym typeface="Roboto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700" dirty="0">
                <a:latin typeface="+mn-lt"/>
                <a:ea typeface="Roboto"/>
                <a:cs typeface="Roboto"/>
                <a:sym typeface="Roboto"/>
              </a:rPr>
              <a:t>Improve feature selection and reduce redundancy</a:t>
            </a:r>
            <a:endParaRPr sz="1700" dirty="0">
              <a:latin typeface="+mn-lt"/>
              <a:ea typeface="Roboto"/>
              <a:cs typeface="Roboto"/>
              <a:sym typeface="Roboto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700" dirty="0">
                <a:latin typeface="+mn-lt"/>
                <a:ea typeface="Roboto"/>
                <a:cs typeface="Roboto"/>
                <a:sym typeface="Roboto"/>
              </a:rPr>
              <a:t>Deploy model as a real-time application </a:t>
            </a:r>
            <a:endParaRPr sz="1700" dirty="0">
              <a:latin typeface="+mn-lt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2" name="Google Shape;172;p26"/>
          <p:cNvPicPr preferRelativeResize="0"/>
          <p:nvPr/>
        </p:nvPicPr>
        <p:blipFill rotWithShape="1">
          <a:blip r:embed="rId4">
            <a:alphaModFix/>
          </a:blip>
          <a:srcRect t="30619" b="30977"/>
          <a:stretch/>
        </p:blipFill>
        <p:spPr>
          <a:xfrm>
            <a:off x="76150" y="9211"/>
            <a:ext cx="2882025" cy="85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7" title="slide-background-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7"/>
          <p:cNvSpPr txBox="1"/>
          <p:nvPr/>
        </p:nvSpPr>
        <p:spPr>
          <a:xfrm>
            <a:off x="4939175" y="150475"/>
            <a:ext cx="2646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+mj-lt"/>
                <a:ea typeface="Roboto Black"/>
                <a:cs typeface="Roboto Black"/>
                <a:sym typeface="Roboto Black"/>
              </a:rPr>
              <a:t>Conclusion :</a:t>
            </a:r>
            <a:endParaRPr sz="1800" b="1" dirty="0">
              <a:solidFill>
                <a:srgbClr val="000000"/>
              </a:solidFill>
              <a:latin typeface="+mj-lt"/>
              <a:ea typeface="Roboto Black"/>
              <a:cs typeface="Roboto Black"/>
              <a:sym typeface="Roboto Black"/>
            </a:endParaRPr>
          </a:p>
        </p:txBody>
      </p:sp>
      <p:sp>
        <p:nvSpPr>
          <p:cNvPr id="179" name="Google Shape;179;p27"/>
          <p:cNvSpPr txBox="1"/>
          <p:nvPr/>
        </p:nvSpPr>
        <p:spPr>
          <a:xfrm>
            <a:off x="495400" y="1329600"/>
            <a:ext cx="7919700" cy="20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800" dirty="0">
                <a:latin typeface="+mn-lt"/>
                <a:ea typeface="Roboto"/>
                <a:cs typeface="Roboto"/>
                <a:sym typeface="Roboto"/>
              </a:rPr>
              <a:t>Built a high-accuracy salary prediction model</a:t>
            </a:r>
            <a:endParaRPr sz="1800" dirty="0">
              <a:latin typeface="+mn-lt"/>
              <a:ea typeface="Roboto"/>
              <a:cs typeface="Roboto"/>
              <a:sym typeface="Roboto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800" dirty="0">
                <a:latin typeface="+mn-lt"/>
                <a:ea typeface="Roboto"/>
                <a:cs typeface="Roboto"/>
                <a:sym typeface="Roboto"/>
              </a:rPr>
              <a:t>Gradient Boosting provided the best performance</a:t>
            </a:r>
            <a:endParaRPr sz="1800" dirty="0">
              <a:latin typeface="+mn-lt"/>
              <a:ea typeface="Roboto"/>
              <a:cs typeface="Roboto"/>
              <a:sym typeface="Roboto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800" dirty="0">
                <a:latin typeface="+mn-lt"/>
                <a:ea typeface="Roboto"/>
                <a:cs typeface="Roboto"/>
                <a:sym typeface="Roboto"/>
              </a:rPr>
              <a:t>Experience is the most important factor affecting salary</a:t>
            </a:r>
            <a:endParaRPr sz="1800" dirty="0">
              <a:latin typeface="+mn-lt"/>
              <a:ea typeface="Roboto"/>
              <a:cs typeface="Roboto"/>
              <a:sym typeface="Roboto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800" dirty="0">
                <a:latin typeface="+mn-lt"/>
                <a:ea typeface="Roboto"/>
                <a:cs typeface="Roboto"/>
                <a:sym typeface="Roboto"/>
              </a:rPr>
              <a:t>Machine learning enables reliable salary estimation </a:t>
            </a:r>
            <a:endParaRPr sz="1800" dirty="0">
              <a:latin typeface="+mn-lt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0" name="Google Shape;180;p27"/>
          <p:cNvPicPr preferRelativeResize="0"/>
          <p:nvPr/>
        </p:nvPicPr>
        <p:blipFill rotWithShape="1">
          <a:blip r:embed="rId4">
            <a:alphaModFix/>
          </a:blip>
          <a:srcRect t="30619" b="30977"/>
          <a:stretch/>
        </p:blipFill>
        <p:spPr>
          <a:xfrm>
            <a:off x="76150" y="9211"/>
            <a:ext cx="2882025" cy="85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78D5BE7B-996D-4B76-416D-6C566133C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7" title="slide-background-v2.png">
            <a:extLst>
              <a:ext uri="{FF2B5EF4-FFF2-40B4-BE49-F238E27FC236}">
                <a16:creationId xmlns:a16="http://schemas.microsoft.com/office/drawing/2014/main" id="{06A198B3-114A-C7C2-027A-AC209859CB9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7">
            <a:extLst>
              <a:ext uri="{FF2B5EF4-FFF2-40B4-BE49-F238E27FC236}">
                <a16:creationId xmlns:a16="http://schemas.microsoft.com/office/drawing/2014/main" id="{44C6F454-4850-8091-6564-0300ED0A9DC0}"/>
              </a:ext>
            </a:extLst>
          </p:cNvPr>
          <p:cNvSpPr txBox="1"/>
          <p:nvPr/>
        </p:nvSpPr>
        <p:spPr>
          <a:xfrm>
            <a:off x="5035767" y="150486"/>
            <a:ext cx="2646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b="1" dirty="0">
                <a:latin typeface="+mj-lt"/>
                <a:ea typeface="Roboto Black"/>
                <a:cs typeface="Roboto Black"/>
                <a:sym typeface="Roboto Black"/>
              </a:rPr>
              <a:t>References</a:t>
            </a:r>
            <a:r>
              <a:rPr lang="en" sz="2400" b="1" dirty="0">
                <a:latin typeface="+mj-lt"/>
                <a:ea typeface="Roboto Black"/>
                <a:cs typeface="Roboto Black"/>
                <a:sym typeface="Roboto Black"/>
              </a:rPr>
              <a:t>:</a:t>
            </a:r>
            <a:endParaRPr sz="2400" b="1" dirty="0">
              <a:solidFill>
                <a:srgbClr val="000000"/>
              </a:solidFill>
              <a:latin typeface="+mj-lt"/>
              <a:ea typeface="Roboto Black"/>
              <a:cs typeface="Roboto Black"/>
              <a:sym typeface="Roboto Black"/>
            </a:endParaRPr>
          </a:p>
        </p:txBody>
      </p:sp>
      <p:sp>
        <p:nvSpPr>
          <p:cNvPr id="179" name="Google Shape;179;p27">
            <a:extLst>
              <a:ext uri="{FF2B5EF4-FFF2-40B4-BE49-F238E27FC236}">
                <a16:creationId xmlns:a16="http://schemas.microsoft.com/office/drawing/2014/main" id="{82429AD2-B4CA-1359-F3D6-2DCBD10EF4D4}"/>
              </a:ext>
            </a:extLst>
          </p:cNvPr>
          <p:cNvSpPr txBox="1"/>
          <p:nvPr/>
        </p:nvSpPr>
        <p:spPr>
          <a:xfrm>
            <a:off x="495400" y="1329599"/>
            <a:ext cx="7919700" cy="3152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Matbouli</a:t>
            </a:r>
            <a:r>
              <a:rPr lang="en-US" sz="1200" dirty="0"/>
              <a:t>, Y.T., &amp; Alghamdi, S.M. (2022). Statistical machine learning regression models for salary prediction featuring economy-wide activities and occupations. </a:t>
            </a:r>
            <a:r>
              <a:rPr lang="en-US" sz="1200" i="1" dirty="0"/>
              <a:t>Information, 13</a:t>
            </a:r>
            <a:r>
              <a:rPr lang="en-US" sz="1200" dirty="0"/>
              <a:t>(10), 495. </a:t>
            </a:r>
            <a:r>
              <a:rPr lang="en-US" sz="1200" dirty="0">
                <a:hlinkClick r:id="rId4"/>
              </a:rPr>
              <a:t>https://doi.org/10.3390/info13100495</a:t>
            </a:r>
            <a:endParaRPr lang="en-US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Gheriyani</a:t>
            </a:r>
            <a:r>
              <a:rPr lang="en-US" sz="1200" dirty="0"/>
              <a:t>, N.S., &amp; </a:t>
            </a:r>
            <a:r>
              <a:rPr lang="en-US" sz="1200" dirty="0" err="1"/>
              <a:t>Dbeea</a:t>
            </a:r>
            <a:r>
              <a:rPr lang="en-US" sz="1200" dirty="0"/>
              <a:t>, J.I. (2024). Salary prediction: Case study. </a:t>
            </a:r>
            <a:r>
              <a:rPr lang="en-US" sz="1200" i="1" dirty="0"/>
              <a:t>African Journal of Advanced Pure and Applied Sciences</a:t>
            </a:r>
            <a:r>
              <a:rPr lang="en-US" sz="1200" dirty="0"/>
              <a:t>, 1–13. </a:t>
            </a:r>
            <a:r>
              <a:rPr lang="en-US" sz="1200" dirty="0">
                <a:hlinkClick r:id="rId5"/>
              </a:rPr>
              <a:t>https://doi.org/10.65418/ajapas.vi.766</a:t>
            </a:r>
            <a:endParaRPr lang="en-US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Raj, P., et al. (2025). Forecasting salary using a machine learning system. </a:t>
            </a:r>
            <a:r>
              <a:rPr lang="en-US" sz="1200" i="1" dirty="0"/>
              <a:t>Atlantis Press</a:t>
            </a:r>
            <a:r>
              <a:rPr lang="en-US" sz="1200" dirty="0"/>
              <a:t>. </a:t>
            </a:r>
            <a:r>
              <a:rPr lang="en-US" sz="1200" dirty="0">
                <a:hlinkClick r:id="rId6"/>
              </a:rPr>
              <a:t>https://doi.org/10.2991/978-94-6463-XXX-X</a:t>
            </a:r>
            <a:endParaRPr lang="en-US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Ayua</a:t>
            </a:r>
            <a:r>
              <a:rPr lang="en-US" sz="1200" dirty="0"/>
              <a:t>, S.I. (2024). Salary prediction model for non-academic staff using polynomial regression technique. </a:t>
            </a:r>
            <a:r>
              <a:rPr lang="en-US" sz="1200" i="1" dirty="0"/>
              <a:t>Advances in Intelligent Applications</a:t>
            </a:r>
            <a:r>
              <a:rPr lang="en-US" sz="1200" dirty="0"/>
              <a:t>. </a:t>
            </a:r>
            <a:r>
              <a:rPr lang="en-US" sz="1200" dirty="0">
                <a:hlinkClick r:id="rId7"/>
              </a:rPr>
              <a:t>https://doi.org/10.47852/bonviewAIA795</a:t>
            </a:r>
            <a:endParaRPr lang="en-US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Alsheyab</a:t>
            </a:r>
            <a:r>
              <a:rPr lang="en-US" sz="1200" dirty="0"/>
              <a:t>, A.R., </a:t>
            </a:r>
            <a:r>
              <a:rPr lang="en-US" sz="1200" dirty="0" err="1"/>
              <a:t>Alkhasawneh</a:t>
            </a:r>
            <a:r>
              <a:rPr lang="en-US" sz="1200" dirty="0"/>
              <a:t>, M., &amp; Shahin, N. (2025). Job market cheat codes: Prototyping salary prediction and job grouping with synthetic job listings. </a:t>
            </a:r>
            <a:r>
              <a:rPr lang="en-US" sz="1200" i="1" dirty="0" err="1"/>
              <a:t>arXiv</a:t>
            </a:r>
            <a:r>
              <a:rPr lang="en-US" sz="1200" dirty="0"/>
              <a:t>. </a:t>
            </a:r>
            <a:r>
              <a:rPr lang="en-US" sz="1200" dirty="0">
                <a:hlinkClick r:id="rId8"/>
              </a:rPr>
              <a:t>https://arxiv.org/abs/2506.15879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0" name="Google Shape;180;p27">
            <a:extLst>
              <a:ext uri="{FF2B5EF4-FFF2-40B4-BE49-F238E27FC236}">
                <a16:creationId xmlns:a16="http://schemas.microsoft.com/office/drawing/2014/main" id="{D1F98D01-5DD8-4963-970E-6419A15CA8DA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 t="30619" b="30977"/>
          <a:stretch/>
        </p:blipFill>
        <p:spPr>
          <a:xfrm>
            <a:off x="76150" y="9211"/>
            <a:ext cx="2882025" cy="855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8404479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887</Words>
  <Application>Microsoft Macintosh PowerPoint</Application>
  <PresentationFormat>On-screen Show (16:9)</PresentationFormat>
  <Paragraphs>129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Roboto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Rajavamshi goud</cp:lastModifiedBy>
  <cp:revision>6</cp:revision>
  <dcterms:modified xsi:type="dcterms:W3CDTF">2026-05-08T00:39:44Z</dcterms:modified>
</cp:coreProperties>
</file>